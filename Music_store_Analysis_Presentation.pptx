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5" r:id="rId17"/>
    <p:sldId id="276" r:id="rId18"/>
    <p:sldId id="277" r:id="rId19"/>
    <p:sldId id="271" r:id="rId20"/>
    <p:sldId id="272" r:id="rId21"/>
    <p:sldId id="273" r:id="rId22"/>
    <p:sldId id="270" r:id="rId23"/>
  </p:sldIdLst>
  <p:sldSz cx="18288000" cy="10287000"/>
  <p:notesSz cx="6858000" cy="9144000"/>
  <p:embeddedFontLst>
    <p:embeddedFont>
      <p:font typeface="Arimo" panose="020B0604020202020204" charset="0"/>
      <p:regular r:id="rId25"/>
    </p:embeddedFont>
    <p:embeddedFont>
      <p:font typeface="Bebas Neue Cyrillic" panose="020B0604020202020204" charset="0"/>
      <p:regular r:id="rId26"/>
    </p:embeddedFont>
    <p:embeddedFont>
      <p:font typeface="Canva Sans" panose="020B0604020202020204" charset="0"/>
      <p:regular r:id="rId27"/>
    </p:embeddedFont>
    <p:embeddedFont>
      <p:font typeface="Consolas" panose="020B0609020204030204" pitchFamily="49" charset="0"/>
      <p:regular r:id="rId28"/>
      <p:bold r:id="rId29"/>
      <p:italic r:id="rId30"/>
      <p:boldItalic r:id="rId31"/>
    </p:embeddedFont>
    <p:embeddedFont>
      <p:font typeface="Open Sans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1" d="100"/>
          <a:sy n="41" d="100"/>
        </p:scale>
        <p:origin x="82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9FFBE-D8D0-4AD9-93A7-DE790B188AFC}" type="datetimeFigureOut">
              <a:rPr lang="en-IN" smtClean="0"/>
              <a:t>16-08-2024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FAA0E0-B51E-4ABE-AFE5-73478033F558}" type="slidenum">
              <a:rPr lang="en-IN" smtClean="0"/>
              <a:t>‹#›</a:t>
            </a:fld>
            <a:endParaRPr lang="en-IN"/>
          </a:p>
        </p:txBody>
      </p:sp>
    </p:spTree>
    <p:extLst>
      <p:ext uri="{BB962C8B-B14F-4D97-AF65-F5344CB8AC3E}">
        <p14:creationId xmlns:p14="http://schemas.microsoft.com/office/powerpoint/2010/main" val="3762975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8FAA0E0-B51E-4ABE-AFE5-73478033F558}" type="slidenum">
              <a:rPr lang="en-IN" smtClean="0"/>
              <a:t>17</a:t>
            </a:fld>
            <a:endParaRPr lang="en-IN"/>
          </a:p>
        </p:txBody>
      </p:sp>
    </p:spTree>
    <p:extLst>
      <p:ext uri="{BB962C8B-B14F-4D97-AF65-F5344CB8AC3E}">
        <p14:creationId xmlns:p14="http://schemas.microsoft.com/office/powerpoint/2010/main" val="3528832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8FAA0E0-B51E-4ABE-AFE5-73478033F558}" type="slidenum">
              <a:rPr lang="en-IN" smtClean="0"/>
              <a:t>18</a:t>
            </a:fld>
            <a:endParaRPr lang="en-IN"/>
          </a:p>
        </p:txBody>
      </p:sp>
    </p:spTree>
    <p:extLst>
      <p:ext uri="{BB962C8B-B14F-4D97-AF65-F5344CB8AC3E}">
        <p14:creationId xmlns:p14="http://schemas.microsoft.com/office/powerpoint/2010/main" val="2475410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7259300" y="9258300"/>
            <a:ext cx="1028700" cy="1028700"/>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991225" y="2090615"/>
            <a:ext cx="775143" cy="775143"/>
            <a:chOff x="0" y="0"/>
            <a:chExt cx="812800" cy="812800"/>
          </a:xfrm>
        </p:grpSpPr>
        <p:sp>
          <p:nvSpPr>
            <p:cNvPr id="8" name="Freeform 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9" name="TextBox 9"/>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0" name="AutoShape 10"/>
          <p:cNvSpPr/>
          <p:nvPr/>
        </p:nvSpPr>
        <p:spPr>
          <a:xfrm>
            <a:off x="2766368" y="6878657"/>
            <a:ext cx="15521632" cy="0"/>
          </a:xfrm>
          <a:prstGeom prst="line">
            <a:avLst/>
          </a:prstGeom>
          <a:ln w="38100" cap="flat">
            <a:gradFill>
              <a:gsLst>
                <a:gs pos="0">
                  <a:srgbClr val="00FFAB">
                    <a:alpha val="100000"/>
                  </a:srgbClr>
                </a:gs>
                <a:gs pos="100000">
                  <a:srgbClr val="DBFF00">
                    <a:alpha val="100000"/>
                  </a:srgbClr>
                </a:gs>
              </a:gsLst>
              <a:lin ang="2700000"/>
            </a:gradFill>
            <a:prstDash val="solid"/>
            <a:headEnd type="none" w="sm" len="sm"/>
            <a:tailEnd type="none" w="sm" len="sm"/>
          </a:ln>
        </p:spPr>
      </p:sp>
      <p:sp>
        <p:nvSpPr>
          <p:cNvPr id="11" name="TextBox 11"/>
          <p:cNvSpPr txBox="1"/>
          <p:nvPr/>
        </p:nvSpPr>
        <p:spPr>
          <a:xfrm>
            <a:off x="2037717" y="2900324"/>
            <a:ext cx="14392355" cy="3497081"/>
          </a:xfrm>
          <a:prstGeom prst="rect">
            <a:avLst/>
          </a:prstGeom>
        </p:spPr>
        <p:txBody>
          <a:bodyPr lIns="0" tIns="0" rIns="0" bIns="0" rtlCol="0" anchor="t">
            <a:spAutoFit/>
          </a:bodyPr>
          <a:lstStyle/>
          <a:p>
            <a:pPr algn="ctr">
              <a:lnSpc>
                <a:spcPts val="14097"/>
              </a:lnSpc>
              <a:spcBef>
                <a:spcPct val="0"/>
              </a:spcBef>
            </a:pPr>
            <a:r>
              <a:rPr lang="en-US" sz="10069">
                <a:solidFill>
                  <a:srgbClr val="FFFFFF"/>
                </a:solidFill>
                <a:latin typeface="Bebas Neue Cyrillic"/>
                <a:ea typeface="Bebas Neue Cyrillic"/>
                <a:cs typeface="Bebas Neue Cyrillic"/>
                <a:sym typeface="Bebas Neue Cyrillic"/>
              </a:rPr>
              <a:t>Digital Music Store data analysis using SQL</a:t>
            </a:r>
          </a:p>
        </p:txBody>
      </p:sp>
      <p:sp>
        <p:nvSpPr>
          <p:cNvPr id="12" name="TextBox 12"/>
          <p:cNvSpPr txBox="1"/>
          <p:nvPr/>
        </p:nvSpPr>
        <p:spPr>
          <a:xfrm>
            <a:off x="17424916" y="9626320"/>
            <a:ext cx="697468" cy="264086"/>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7424916" y="9626320"/>
            <a:ext cx="697468" cy="264086"/>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02</a:t>
            </a:r>
          </a:p>
        </p:txBody>
      </p:sp>
      <p:grpSp>
        <p:nvGrpSpPr>
          <p:cNvPr id="10" name="Group 10"/>
          <p:cNvGrpSpPr/>
          <p:nvPr/>
        </p:nvGrpSpPr>
        <p:grpSpPr>
          <a:xfrm>
            <a:off x="33519" y="6172200"/>
            <a:ext cx="1990363" cy="4114800"/>
            <a:chOff x="0" y="0"/>
            <a:chExt cx="812800" cy="1680352"/>
          </a:xfrm>
        </p:grpSpPr>
        <p:sp>
          <p:nvSpPr>
            <p:cNvPr id="11" name="Freeform 11"/>
            <p:cNvSpPr/>
            <p:nvPr/>
          </p:nvSpPr>
          <p:spPr>
            <a:xfrm>
              <a:off x="0" y="0"/>
              <a:ext cx="812800" cy="1680352"/>
            </a:xfrm>
            <a:custGeom>
              <a:avLst/>
              <a:gdLst/>
              <a:ahLst/>
              <a:cxnLst/>
              <a:rect l="l" t="t" r="r" b="b"/>
              <a:pathLst>
                <a:path w="812800" h="1680352">
                  <a:moveTo>
                    <a:pt x="0" y="0"/>
                  </a:moveTo>
                  <a:lnTo>
                    <a:pt x="812800" y="0"/>
                  </a:lnTo>
                  <a:lnTo>
                    <a:pt x="812800"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2" name="TextBox 12"/>
            <p:cNvSpPr txBox="1"/>
            <p:nvPr/>
          </p:nvSpPr>
          <p:spPr>
            <a:xfrm>
              <a:off x="0" y="-38100"/>
              <a:ext cx="812800" cy="1718452"/>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7553084" y="895350"/>
            <a:ext cx="3181832" cy="1193801"/>
          </a:xfrm>
          <a:prstGeom prst="rect">
            <a:avLst/>
          </a:prstGeom>
        </p:spPr>
        <p:txBody>
          <a:bodyPr lIns="0" tIns="0" rIns="0" bIns="0" rtlCol="0" anchor="t">
            <a:spAutoFit/>
          </a:bodyPr>
          <a:lstStyle/>
          <a:p>
            <a:pPr algn="l">
              <a:lnSpc>
                <a:spcPts val="9799"/>
              </a:lnSpc>
              <a:spcBef>
                <a:spcPct val="0"/>
              </a:spcBef>
            </a:pPr>
            <a:r>
              <a:rPr lang="en-US" sz="6999" dirty="0">
                <a:solidFill>
                  <a:srgbClr val="FFFFFF"/>
                </a:solidFill>
                <a:latin typeface="Bebas Neue Cyrillic"/>
                <a:ea typeface="Bebas Neue Cyrillic"/>
                <a:cs typeface="Bebas Neue Cyrillic"/>
                <a:sym typeface="Bebas Neue Cyrillic"/>
              </a:rPr>
              <a:t>OBJECTIVE</a:t>
            </a:r>
          </a:p>
        </p:txBody>
      </p:sp>
      <p:sp>
        <p:nvSpPr>
          <p:cNvPr id="14" name="TextBox 14"/>
          <p:cNvSpPr txBox="1"/>
          <p:nvPr/>
        </p:nvSpPr>
        <p:spPr>
          <a:xfrm>
            <a:off x="1028700" y="3136180"/>
            <a:ext cx="16744950" cy="3837919"/>
          </a:xfrm>
          <a:prstGeom prst="rect">
            <a:avLst/>
          </a:prstGeom>
        </p:spPr>
        <p:txBody>
          <a:bodyPr lIns="0" tIns="0" rIns="0" bIns="0" rtlCol="0" anchor="t">
            <a:spAutoFit/>
          </a:bodyPr>
          <a:lstStyle/>
          <a:p>
            <a:pPr algn="l">
              <a:lnSpc>
                <a:spcPts val="5384"/>
              </a:lnSpc>
            </a:pPr>
            <a:r>
              <a:rPr lang="en-US" sz="3846" dirty="0">
                <a:solidFill>
                  <a:srgbClr val="FFFFFF"/>
                </a:solidFill>
                <a:latin typeface="Arimo"/>
                <a:ea typeface="Arimo"/>
                <a:cs typeface="Arimo"/>
                <a:sym typeface="Arimo"/>
              </a:rPr>
              <a:t>We will analyze the dataset music store database with SQL and help the store to understand the business growth by answering Question’s </a:t>
            </a:r>
          </a:p>
          <a:p>
            <a:pPr algn="l">
              <a:lnSpc>
                <a:spcPts val="5384"/>
              </a:lnSpc>
            </a:pPr>
            <a:endParaRPr lang="en-US" sz="3846" dirty="0">
              <a:solidFill>
                <a:srgbClr val="FFFFFF"/>
              </a:solidFill>
              <a:latin typeface="Arimo"/>
              <a:ea typeface="Arimo"/>
              <a:cs typeface="Arimo"/>
              <a:sym typeface="Arimo"/>
            </a:endParaRPr>
          </a:p>
          <a:p>
            <a:pPr algn="l">
              <a:lnSpc>
                <a:spcPts val="5244"/>
              </a:lnSpc>
            </a:pPr>
            <a:r>
              <a:rPr lang="en-US" sz="3746" dirty="0">
                <a:solidFill>
                  <a:srgbClr val="FFFFFF"/>
                </a:solidFill>
                <a:latin typeface="Arimo"/>
                <a:ea typeface="Arimo"/>
                <a:cs typeface="Arimo"/>
                <a:sym typeface="Arimo"/>
              </a:rPr>
              <a:t>SQL Server: Microsoft </a:t>
            </a:r>
            <a:r>
              <a:rPr lang="en-US" sz="3746" dirty="0" err="1">
                <a:solidFill>
                  <a:srgbClr val="FFFFFF"/>
                </a:solidFill>
                <a:latin typeface="Arimo"/>
                <a:ea typeface="Arimo"/>
                <a:cs typeface="Arimo"/>
                <a:sym typeface="Arimo"/>
              </a:rPr>
              <a:t>sql</a:t>
            </a:r>
            <a:r>
              <a:rPr lang="en-US" sz="3746" dirty="0">
                <a:solidFill>
                  <a:srgbClr val="FFFFFF"/>
                </a:solidFill>
                <a:latin typeface="Arimo"/>
                <a:ea typeface="Arimo"/>
                <a:cs typeface="Arimo"/>
                <a:sym typeface="Arimo"/>
              </a:rPr>
              <a:t> database </a:t>
            </a:r>
            <a:r>
              <a:rPr lang="en-US" sz="3746" dirty="0" err="1">
                <a:solidFill>
                  <a:srgbClr val="FFFFFF"/>
                </a:solidFill>
                <a:latin typeface="Arimo"/>
                <a:ea typeface="Arimo"/>
                <a:cs typeface="Arimo"/>
                <a:sym typeface="Arimo"/>
              </a:rPr>
              <a:t>Managemnet</a:t>
            </a:r>
            <a:r>
              <a:rPr lang="en-US" sz="3746" dirty="0">
                <a:solidFill>
                  <a:srgbClr val="FFFFFF"/>
                </a:solidFill>
                <a:latin typeface="Arimo"/>
                <a:ea typeface="Arimo"/>
                <a:cs typeface="Arimo"/>
                <a:sym typeface="Arimo"/>
              </a:rPr>
              <a:t> studio 19</a:t>
            </a:r>
          </a:p>
          <a:p>
            <a:pPr algn="l">
              <a:lnSpc>
                <a:spcPts val="9387"/>
              </a:lnSpc>
              <a:spcBef>
                <a:spcPct val="0"/>
              </a:spcBef>
            </a:pPr>
            <a:endParaRPr lang="en-US" sz="3746" dirty="0">
              <a:solidFill>
                <a:srgbClr val="FFFFFF"/>
              </a:solidFill>
              <a:latin typeface="Arimo"/>
              <a:ea typeface="Arimo"/>
              <a:cs typeface="Arimo"/>
              <a:sym typeface="Arim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990363" cy="4114800"/>
            <a:chOff x="0" y="0"/>
            <a:chExt cx="812800" cy="1680352"/>
          </a:xfrm>
        </p:grpSpPr>
        <p:sp>
          <p:nvSpPr>
            <p:cNvPr id="10" name="Freeform 10"/>
            <p:cNvSpPr/>
            <p:nvPr/>
          </p:nvSpPr>
          <p:spPr>
            <a:xfrm>
              <a:off x="0" y="0"/>
              <a:ext cx="812800" cy="1680352"/>
            </a:xfrm>
            <a:custGeom>
              <a:avLst/>
              <a:gdLst/>
              <a:ahLst/>
              <a:cxnLst/>
              <a:rect l="l" t="t" r="r" b="b"/>
              <a:pathLst>
                <a:path w="812800" h="1680352">
                  <a:moveTo>
                    <a:pt x="0" y="0"/>
                  </a:moveTo>
                  <a:lnTo>
                    <a:pt x="812800" y="0"/>
                  </a:lnTo>
                  <a:lnTo>
                    <a:pt x="812800"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812800"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663447" y="1974537"/>
            <a:ext cx="10010711" cy="8094681"/>
          </a:xfrm>
          <a:custGeom>
            <a:avLst/>
            <a:gdLst/>
            <a:ahLst/>
            <a:cxnLst/>
            <a:rect l="l" t="t" r="r" b="b"/>
            <a:pathLst>
              <a:path w="10010711" h="8094681">
                <a:moveTo>
                  <a:pt x="0" y="0"/>
                </a:moveTo>
                <a:lnTo>
                  <a:pt x="10010711" y="0"/>
                </a:lnTo>
                <a:lnTo>
                  <a:pt x="10010711" y="8094682"/>
                </a:lnTo>
                <a:lnTo>
                  <a:pt x="0" y="8094682"/>
                </a:lnTo>
                <a:lnTo>
                  <a:pt x="0" y="0"/>
                </a:lnTo>
                <a:close/>
              </a:path>
            </a:pathLst>
          </a:custGeom>
          <a:blipFill>
            <a:blip r:embed="rId4"/>
            <a:stretch>
              <a:fillRect t="-174" b="-174"/>
            </a:stretch>
          </a:blipFill>
          <a:ln w="38100" cap="sq">
            <a:solidFill>
              <a:srgbClr val="000000"/>
            </a:solidFill>
            <a:prstDash val="solid"/>
            <a:miter/>
          </a:ln>
        </p:spPr>
      </p:sp>
      <p:sp>
        <p:nvSpPr>
          <p:cNvPr id="13" name="TextBox 13"/>
          <p:cNvSpPr txBox="1"/>
          <p:nvPr/>
        </p:nvSpPr>
        <p:spPr>
          <a:xfrm>
            <a:off x="17424916" y="9626320"/>
            <a:ext cx="697468" cy="264086"/>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02</a:t>
            </a:r>
          </a:p>
        </p:txBody>
      </p:sp>
      <p:sp>
        <p:nvSpPr>
          <p:cNvPr id="14" name="TextBox 14"/>
          <p:cNvSpPr txBox="1"/>
          <p:nvPr/>
        </p:nvSpPr>
        <p:spPr>
          <a:xfrm>
            <a:off x="3466511" y="895350"/>
            <a:ext cx="11354977" cy="1079187"/>
          </a:xfrm>
          <a:prstGeom prst="rect">
            <a:avLst/>
          </a:prstGeom>
        </p:spPr>
        <p:txBody>
          <a:bodyPr lIns="0" tIns="0" rIns="0" bIns="0" rtlCol="0" anchor="t">
            <a:spAutoFit/>
          </a:bodyPr>
          <a:lstStyle/>
          <a:p>
            <a:pPr algn="ctr">
              <a:lnSpc>
                <a:spcPts val="8767"/>
              </a:lnSpc>
              <a:spcBef>
                <a:spcPct val="0"/>
              </a:spcBef>
            </a:pPr>
            <a:r>
              <a:rPr lang="en-US" sz="6262">
                <a:solidFill>
                  <a:srgbClr val="FFFFFF"/>
                </a:solidFill>
                <a:latin typeface="Bebas Neue Cyrillic"/>
                <a:ea typeface="Bebas Neue Cyrillic"/>
                <a:cs typeface="Bebas Neue Cyrillic"/>
                <a:sym typeface="Bebas Neue Cyrillic"/>
              </a:rPr>
              <a:t>DATABASE SCHEMA</a:t>
            </a:r>
          </a:p>
        </p:txBody>
      </p:sp>
      <p:sp>
        <p:nvSpPr>
          <p:cNvPr id="15" name="TextBox 15"/>
          <p:cNvSpPr txBox="1"/>
          <p:nvPr/>
        </p:nvSpPr>
        <p:spPr>
          <a:xfrm>
            <a:off x="10939724" y="3623331"/>
            <a:ext cx="6750758" cy="3938551"/>
          </a:xfrm>
          <a:prstGeom prst="rect">
            <a:avLst/>
          </a:prstGeom>
        </p:spPr>
        <p:txBody>
          <a:bodyPr lIns="0" tIns="0" rIns="0" bIns="0" rtlCol="0" anchor="t">
            <a:spAutoFit/>
          </a:bodyPr>
          <a:lstStyle/>
          <a:p>
            <a:pPr algn="just">
              <a:lnSpc>
                <a:spcPts val="3939"/>
              </a:lnSpc>
              <a:spcBef>
                <a:spcPct val="0"/>
              </a:spcBef>
            </a:pPr>
            <a:r>
              <a:rPr lang="en-US" sz="2813">
                <a:solidFill>
                  <a:srgbClr val="EBEEF0"/>
                </a:solidFill>
                <a:latin typeface="Canva Sans"/>
                <a:ea typeface="Canva Sans"/>
                <a:cs typeface="Canva Sans"/>
                <a:sym typeface="Canva Sans"/>
              </a:rPr>
              <a:t>A database schema is essentially a blueprint for how a database is structured. It defines the organization of data and how different pieces of data relate to each other. In simple terms, it's a plan that shows how data is stored and organized within a database.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990363" cy="4114800"/>
            <a:chOff x="0" y="0"/>
            <a:chExt cx="812800" cy="1680352"/>
          </a:xfrm>
        </p:grpSpPr>
        <p:sp>
          <p:nvSpPr>
            <p:cNvPr id="10" name="Freeform 10"/>
            <p:cNvSpPr/>
            <p:nvPr/>
          </p:nvSpPr>
          <p:spPr>
            <a:xfrm>
              <a:off x="0" y="0"/>
              <a:ext cx="812800" cy="1680352"/>
            </a:xfrm>
            <a:custGeom>
              <a:avLst/>
              <a:gdLst/>
              <a:ahLst/>
              <a:cxnLst/>
              <a:rect l="l" t="t" r="r" b="b"/>
              <a:pathLst>
                <a:path w="812800" h="1680352">
                  <a:moveTo>
                    <a:pt x="0" y="0"/>
                  </a:moveTo>
                  <a:lnTo>
                    <a:pt x="812800" y="0"/>
                  </a:lnTo>
                  <a:lnTo>
                    <a:pt x="812800"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812800"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2313490" y="2679379"/>
            <a:ext cx="6349735" cy="6615735"/>
          </a:xfrm>
          <a:custGeom>
            <a:avLst/>
            <a:gdLst/>
            <a:ahLst/>
            <a:cxnLst/>
            <a:rect l="l" t="t" r="r" b="b"/>
            <a:pathLst>
              <a:path w="6349735" h="6615735">
                <a:moveTo>
                  <a:pt x="0" y="0"/>
                </a:moveTo>
                <a:lnTo>
                  <a:pt x="6349735" y="0"/>
                </a:lnTo>
                <a:lnTo>
                  <a:pt x="6349735" y="6615736"/>
                </a:lnTo>
                <a:lnTo>
                  <a:pt x="0" y="6615736"/>
                </a:lnTo>
                <a:lnTo>
                  <a:pt x="0" y="0"/>
                </a:lnTo>
                <a:close/>
              </a:path>
            </a:pathLst>
          </a:custGeom>
          <a:blipFill>
            <a:blip r:embed="rId4"/>
            <a:stretch>
              <a:fillRect t="-1919" r="-13805" b="-1919"/>
            </a:stretch>
          </a:blipFill>
        </p:spPr>
      </p:sp>
      <p:sp>
        <p:nvSpPr>
          <p:cNvPr id="13" name="Freeform 13"/>
          <p:cNvSpPr/>
          <p:nvPr/>
        </p:nvSpPr>
        <p:spPr>
          <a:xfrm>
            <a:off x="6066400" y="5156162"/>
            <a:ext cx="11624082" cy="1516471"/>
          </a:xfrm>
          <a:custGeom>
            <a:avLst/>
            <a:gdLst/>
            <a:ahLst/>
            <a:cxnLst/>
            <a:rect l="l" t="t" r="r" b="b"/>
            <a:pathLst>
              <a:path w="11624082" h="1516471">
                <a:moveTo>
                  <a:pt x="0" y="0"/>
                </a:moveTo>
                <a:lnTo>
                  <a:pt x="11624082" y="0"/>
                </a:lnTo>
                <a:lnTo>
                  <a:pt x="11624082" y="1516471"/>
                </a:lnTo>
                <a:lnTo>
                  <a:pt x="0" y="1516471"/>
                </a:lnTo>
                <a:lnTo>
                  <a:pt x="0" y="0"/>
                </a:lnTo>
                <a:close/>
              </a:path>
            </a:pathLst>
          </a:custGeom>
          <a:blipFill>
            <a:blip r:embed="rId5"/>
            <a:stretch>
              <a:fillRect l="-1357" b="-9607"/>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03</a:t>
            </a:r>
          </a:p>
        </p:txBody>
      </p:sp>
      <p:sp>
        <p:nvSpPr>
          <p:cNvPr id="15" name="TextBox 15"/>
          <p:cNvSpPr txBox="1"/>
          <p:nvPr/>
        </p:nvSpPr>
        <p:spPr>
          <a:xfrm>
            <a:off x="479107" y="1490232"/>
            <a:ext cx="16368237" cy="655747"/>
          </a:xfrm>
          <a:prstGeom prst="rect">
            <a:avLst/>
          </a:prstGeom>
        </p:spPr>
        <p:txBody>
          <a:bodyPr lIns="0" tIns="0" rIns="0" bIns="0" rtlCol="0" anchor="t">
            <a:spAutoFit/>
          </a:bodyPr>
          <a:lstStyle/>
          <a:p>
            <a:pPr algn="ctr">
              <a:lnSpc>
                <a:spcPts val="5331"/>
              </a:lnSpc>
              <a:spcBef>
                <a:spcPct val="0"/>
              </a:spcBef>
            </a:pPr>
            <a:r>
              <a:rPr lang="en-US" sz="3808" dirty="0">
                <a:solidFill>
                  <a:srgbClr val="FFFFFF"/>
                </a:solidFill>
                <a:latin typeface="Canva Sans"/>
                <a:ea typeface="Canva Sans"/>
                <a:cs typeface="Canva Sans"/>
                <a:sym typeface="Canva Sans"/>
              </a:rPr>
              <a:t>1. Who is the senior most employee based on job title?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990363" cy="4114800"/>
            <a:chOff x="0" y="0"/>
            <a:chExt cx="812800" cy="1680352"/>
          </a:xfrm>
        </p:grpSpPr>
        <p:sp>
          <p:nvSpPr>
            <p:cNvPr id="10" name="Freeform 10"/>
            <p:cNvSpPr/>
            <p:nvPr/>
          </p:nvSpPr>
          <p:spPr>
            <a:xfrm>
              <a:off x="0" y="0"/>
              <a:ext cx="812800" cy="1680352"/>
            </a:xfrm>
            <a:custGeom>
              <a:avLst/>
              <a:gdLst/>
              <a:ahLst/>
              <a:cxnLst/>
              <a:rect l="l" t="t" r="r" b="b"/>
              <a:pathLst>
                <a:path w="812800" h="1680352">
                  <a:moveTo>
                    <a:pt x="0" y="0"/>
                  </a:moveTo>
                  <a:lnTo>
                    <a:pt x="812800" y="0"/>
                  </a:lnTo>
                  <a:lnTo>
                    <a:pt x="812800"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812800"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2267929" y="2571652"/>
            <a:ext cx="8007799" cy="5143695"/>
          </a:xfrm>
          <a:custGeom>
            <a:avLst/>
            <a:gdLst/>
            <a:ahLst/>
            <a:cxnLst/>
            <a:rect l="l" t="t" r="r" b="b"/>
            <a:pathLst>
              <a:path w="8007799" h="5143695">
                <a:moveTo>
                  <a:pt x="0" y="0"/>
                </a:moveTo>
                <a:lnTo>
                  <a:pt x="8007799" y="0"/>
                </a:lnTo>
                <a:lnTo>
                  <a:pt x="8007799" y="5143696"/>
                </a:lnTo>
                <a:lnTo>
                  <a:pt x="0" y="5143696"/>
                </a:lnTo>
                <a:lnTo>
                  <a:pt x="0" y="0"/>
                </a:lnTo>
                <a:close/>
              </a:path>
            </a:pathLst>
          </a:custGeom>
          <a:blipFill>
            <a:blip r:embed="rId4"/>
            <a:stretch>
              <a:fillRect/>
            </a:stretch>
          </a:blipFill>
        </p:spPr>
      </p:sp>
      <p:sp>
        <p:nvSpPr>
          <p:cNvPr id="13" name="Freeform 13"/>
          <p:cNvSpPr/>
          <p:nvPr/>
        </p:nvSpPr>
        <p:spPr>
          <a:xfrm>
            <a:off x="9176197" y="4129016"/>
            <a:ext cx="7624611" cy="5129284"/>
          </a:xfrm>
          <a:custGeom>
            <a:avLst/>
            <a:gdLst/>
            <a:ahLst/>
            <a:cxnLst/>
            <a:rect l="l" t="t" r="r" b="b"/>
            <a:pathLst>
              <a:path w="7624611" h="5129284">
                <a:moveTo>
                  <a:pt x="0" y="0"/>
                </a:moveTo>
                <a:lnTo>
                  <a:pt x="7624611" y="0"/>
                </a:lnTo>
                <a:lnTo>
                  <a:pt x="7624611" y="5129284"/>
                </a:lnTo>
                <a:lnTo>
                  <a:pt x="0" y="5129284"/>
                </a:lnTo>
                <a:lnTo>
                  <a:pt x="0" y="0"/>
                </a:lnTo>
                <a:close/>
              </a:path>
            </a:pathLst>
          </a:custGeom>
          <a:blipFill>
            <a:blip r:embed="rId5"/>
            <a:stretch>
              <a:fillRect/>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04</a:t>
            </a:r>
          </a:p>
        </p:txBody>
      </p:sp>
      <p:sp>
        <p:nvSpPr>
          <p:cNvPr id="15" name="TextBox 15"/>
          <p:cNvSpPr txBox="1"/>
          <p:nvPr/>
        </p:nvSpPr>
        <p:spPr>
          <a:xfrm>
            <a:off x="847787" y="903741"/>
            <a:ext cx="16321701" cy="1328452"/>
          </a:xfrm>
          <a:prstGeom prst="rect">
            <a:avLst/>
          </a:prstGeom>
        </p:spPr>
        <p:txBody>
          <a:bodyPr lIns="0" tIns="0" rIns="0" bIns="0" rtlCol="0" anchor="t">
            <a:spAutoFit/>
          </a:bodyPr>
          <a:lstStyle/>
          <a:p>
            <a:pPr algn="ctr">
              <a:lnSpc>
                <a:spcPts val="5316"/>
              </a:lnSpc>
            </a:pPr>
            <a:r>
              <a:rPr lang="en-US" sz="3797">
                <a:solidFill>
                  <a:srgbClr val="FFFFFF"/>
                </a:solidFill>
                <a:latin typeface="Canva Sans"/>
                <a:ea typeface="Canva Sans"/>
                <a:cs typeface="Canva Sans"/>
                <a:sym typeface="Canva Sans"/>
              </a:rPr>
              <a:t>2. Which countries have the most Invoices?</a:t>
            </a:r>
          </a:p>
          <a:p>
            <a:pPr algn="ctr">
              <a:lnSpc>
                <a:spcPts val="5316"/>
              </a:lnSpc>
              <a:spcBef>
                <a:spcPct val="0"/>
              </a:spcBef>
            </a:pPr>
            <a:endParaRPr lang="en-US" sz="3797">
              <a:solidFill>
                <a:srgbClr val="FFFFFF"/>
              </a:solidFill>
              <a:latin typeface="Canva Sans"/>
              <a:ea typeface="Canva Sans"/>
              <a:cs typeface="Canva Sans"/>
              <a:sym typeface="Canv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990363" cy="4114800"/>
            <a:chOff x="0" y="0"/>
            <a:chExt cx="812800" cy="1680352"/>
          </a:xfrm>
        </p:grpSpPr>
        <p:sp>
          <p:nvSpPr>
            <p:cNvPr id="10" name="Freeform 10"/>
            <p:cNvSpPr/>
            <p:nvPr/>
          </p:nvSpPr>
          <p:spPr>
            <a:xfrm>
              <a:off x="0" y="0"/>
              <a:ext cx="812800" cy="1680352"/>
            </a:xfrm>
            <a:custGeom>
              <a:avLst/>
              <a:gdLst/>
              <a:ahLst/>
              <a:cxnLst/>
              <a:rect l="l" t="t" r="r" b="b"/>
              <a:pathLst>
                <a:path w="812800" h="1680352">
                  <a:moveTo>
                    <a:pt x="0" y="0"/>
                  </a:moveTo>
                  <a:lnTo>
                    <a:pt x="812800" y="0"/>
                  </a:lnTo>
                  <a:lnTo>
                    <a:pt x="812800"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812800"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2347188" y="1882971"/>
            <a:ext cx="6580900" cy="6346629"/>
          </a:xfrm>
          <a:custGeom>
            <a:avLst/>
            <a:gdLst/>
            <a:ahLst/>
            <a:cxnLst/>
            <a:rect l="l" t="t" r="r" b="b"/>
            <a:pathLst>
              <a:path w="6580900" h="6346629">
                <a:moveTo>
                  <a:pt x="0" y="0"/>
                </a:moveTo>
                <a:lnTo>
                  <a:pt x="6580900" y="0"/>
                </a:lnTo>
                <a:lnTo>
                  <a:pt x="6580900" y="6346629"/>
                </a:lnTo>
                <a:lnTo>
                  <a:pt x="0" y="6346629"/>
                </a:lnTo>
                <a:lnTo>
                  <a:pt x="0" y="0"/>
                </a:lnTo>
                <a:close/>
              </a:path>
            </a:pathLst>
          </a:custGeom>
          <a:blipFill>
            <a:blip r:embed="rId4"/>
            <a:stretch>
              <a:fillRect/>
            </a:stretch>
          </a:blipFill>
        </p:spPr>
      </p:sp>
      <p:sp>
        <p:nvSpPr>
          <p:cNvPr id="13" name="Freeform 13"/>
          <p:cNvSpPr/>
          <p:nvPr/>
        </p:nvSpPr>
        <p:spPr>
          <a:xfrm>
            <a:off x="7128663" y="5521617"/>
            <a:ext cx="10561819" cy="3514598"/>
          </a:xfrm>
          <a:custGeom>
            <a:avLst/>
            <a:gdLst/>
            <a:ahLst/>
            <a:cxnLst/>
            <a:rect l="l" t="t" r="r" b="b"/>
            <a:pathLst>
              <a:path w="10561819" h="3514598">
                <a:moveTo>
                  <a:pt x="0" y="0"/>
                </a:moveTo>
                <a:lnTo>
                  <a:pt x="10561819" y="0"/>
                </a:lnTo>
                <a:lnTo>
                  <a:pt x="10561819" y="3514599"/>
                </a:lnTo>
                <a:lnTo>
                  <a:pt x="0" y="3514599"/>
                </a:lnTo>
                <a:lnTo>
                  <a:pt x="0" y="0"/>
                </a:lnTo>
                <a:close/>
              </a:path>
            </a:pathLst>
          </a:custGeom>
          <a:blipFill>
            <a:blip r:embed="rId5"/>
            <a:stretch>
              <a:fillRect/>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05</a:t>
            </a:r>
          </a:p>
        </p:txBody>
      </p:sp>
      <p:sp>
        <p:nvSpPr>
          <p:cNvPr id="15" name="TextBox 15"/>
          <p:cNvSpPr txBox="1"/>
          <p:nvPr/>
        </p:nvSpPr>
        <p:spPr>
          <a:xfrm>
            <a:off x="663447" y="874753"/>
            <a:ext cx="15953021" cy="1949761"/>
          </a:xfrm>
          <a:prstGeom prst="rect">
            <a:avLst/>
          </a:prstGeom>
        </p:spPr>
        <p:txBody>
          <a:bodyPr lIns="0" tIns="0" rIns="0" bIns="0" rtlCol="0" anchor="t">
            <a:spAutoFit/>
          </a:bodyPr>
          <a:lstStyle/>
          <a:p>
            <a:pPr algn="ctr">
              <a:lnSpc>
                <a:spcPts val="5196"/>
              </a:lnSpc>
            </a:pPr>
            <a:r>
              <a:rPr lang="en-US" sz="3711">
                <a:solidFill>
                  <a:srgbClr val="FFFFFF"/>
                </a:solidFill>
                <a:latin typeface="Canva Sans"/>
                <a:ea typeface="Canva Sans"/>
                <a:cs typeface="Canva Sans"/>
                <a:sym typeface="Canva Sans"/>
              </a:rPr>
              <a:t>3. What are top 3 values of total invoice?</a:t>
            </a:r>
          </a:p>
          <a:p>
            <a:pPr algn="ctr">
              <a:lnSpc>
                <a:spcPts val="5196"/>
              </a:lnSpc>
            </a:pPr>
            <a:endParaRPr lang="en-US" sz="3711">
              <a:solidFill>
                <a:srgbClr val="FFFFFF"/>
              </a:solidFill>
              <a:latin typeface="Canva Sans"/>
              <a:ea typeface="Canva Sans"/>
              <a:cs typeface="Canva Sans"/>
              <a:sym typeface="Canva Sans"/>
            </a:endParaRPr>
          </a:p>
          <a:p>
            <a:pPr algn="ctr">
              <a:lnSpc>
                <a:spcPts val="5196"/>
              </a:lnSpc>
              <a:spcBef>
                <a:spcPct val="0"/>
              </a:spcBef>
            </a:pPr>
            <a:endParaRPr lang="en-US" sz="3711">
              <a:solidFill>
                <a:srgbClr val="FFFFFF"/>
              </a:solidFill>
              <a:latin typeface="Canva Sans"/>
              <a:ea typeface="Canva Sans"/>
              <a:cs typeface="Canva Sans"/>
              <a:sym typeface="Canv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854359" y="3552296"/>
            <a:ext cx="7806962" cy="5239808"/>
          </a:xfrm>
          <a:custGeom>
            <a:avLst/>
            <a:gdLst/>
            <a:ahLst/>
            <a:cxnLst/>
            <a:rect l="l" t="t" r="r" b="b"/>
            <a:pathLst>
              <a:path w="7806962" h="5239808">
                <a:moveTo>
                  <a:pt x="0" y="0"/>
                </a:moveTo>
                <a:lnTo>
                  <a:pt x="7806962" y="0"/>
                </a:lnTo>
                <a:lnTo>
                  <a:pt x="7806962" y="5239808"/>
                </a:lnTo>
                <a:lnTo>
                  <a:pt x="0" y="5239808"/>
                </a:lnTo>
                <a:lnTo>
                  <a:pt x="0" y="0"/>
                </a:lnTo>
                <a:close/>
              </a:path>
            </a:pathLst>
          </a:custGeom>
          <a:blipFill>
            <a:blip r:embed="rId4"/>
            <a:stretch>
              <a:fillRect/>
            </a:stretch>
          </a:blipFill>
        </p:spPr>
      </p:sp>
      <p:sp>
        <p:nvSpPr>
          <p:cNvPr id="13" name="Freeform 13"/>
          <p:cNvSpPr/>
          <p:nvPr/>
        </p:nvSpPr>
        <p:spPr>
          <a:xfrm>
            <a:off x="8286401" y="5477801"/>
            <a:ext cx="7504362" cy="4177094"/>
          </a:xfrm>
          <a:custGeom>
            <a:avLst/>
            <a:gdLst/>
            <a:ahLst/>
            <a:cxnLst/>
            <a:rect l="l" t="t" r="r" b="b"/>
            <a:pathLst>
              <a:path w="7504362" h="4177094">
                <a:moveTo>
                  <a:pt x="0" y="0"/>
                </a:moveTo>
                <a:lnTo>
                  <a:pt x="7504362" y="0"/>
                </a:lnTo>
                <a:lnTo>
                  <a:pt x="7504362" y="4177094"/>
                </a:lnTo>
                <a:lnTo>
                  <a:pt x="0" y="4177094"/>
                </a:lnTo>
                <a:lnTo>
                  <a:pt x="0" y="0"/>
                </a:lnTo>
                <a:close/>
              </a:path>
            </a:pathLst>
          </a:custGeom>
          <a:blipFill>
            <a:blip r:embed="rId5"/>
            <a:stretch>
              <a:fillRect r="-45529"/>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06</a:t>
            </a:r>
          </a:p>
        </p:txBody>
      </p:sp>
      <p:sp>
        <p:nvSpPr>
          <p:cNvPr id="15" name="TextBox 15"/>
          <p:cNvSpPr txBox="1"/>
          <p:nvPr/>
        </p:nvSpPr>
        <p:spPr>
          <a:xfrm>
            <a:off x="663447" y="874753"/>
            <a:ext cx="15935920" cy="4268747"/>
          </a:xfrm>
          <a:prstGeom prst="rect">
            <a:avLst/>
          </a:prstGeom>
        </p:spPr>
        <p:txBody>
          <a:bodyPr lIns="0" tIns="0" rIns="0" bIns="0" rtlCol="0" anchor="t">
            <a:spAutoFit/>
          </a:bodyPr>
          <a:lstStyle/>
          <a:p>
            <a:pPr algn="just">
              <a:lnSpc>
                <a:spcPts val="4631"/>
              </a:lnSpc>
            </a:pPr>
            <a:r>
              <a:rPr lang="en-US" sz="3308">
                <a:solidFill>
                  <a:srgbClr val="FFFFFF"/>
                </a:solidFill>
                <a:latin typeface="Canva Sans"/>
                <a:ea typeface="Canva Sans"/>
                <a:cs typeface="Canva Sans"/>
                <a:sym typeface="Canva Sans"/>
              </a:rPr>
              <a:t>4. Which city has the best customers? We would like to throw a promotional Music Festival in the city we made the most money. Write a query that returns one city that has the highest sum of invoice totals. Return both the city name &amp; sum of all invoice totals</a:t>
            </a:r>
          </a:p>
          <a:p>
            <a:pPr algn="ctr">
              <a:lnSpc>
                <a:spcPts val="5190"/>
              </a:lnSpc>
            </a:pPr>
            <a:endParaRPr lang="en-US" sz="3308">
              <a:solidFill>
                <a:srgbClr val="FFFFFF"/>
              </a:solidFill>
              <a:latin typeface="Canva Sans"/>
              <a:ea typeface="Canva Sans"/>
              <a:cs typeface="Canva Sans"/>
              <a:sym typeface="Canva Sans"/>
            </a:endParaRPr>
          </a:p>
          <a:p>
            <a:pPr algn="ctr">
              <a:lnSpc>
                <a:spcPts val="5190"/>
              </a:lnSpc>
            </a:pPr>
            <a:endParaRPr lang="en-US" sz="3308">
              <a:solidFill>
                <a:srgbClr val="FFFFFF"/>
              </a:solidFill>
              <a:latin typeface="Canva Sans"/>
              <a:ea typeface="Canva Sans"/>
              <a:cs typeface="Canva Sans"/>
              <a:sym typeface="Canva Sans"/>
            </a:endParaRPr>
          </a:p>
          <a:p>
            <a:pPr algn="ctr">
              <a:lnSpc>
                <a:spcPts val="5190"/>
              </a:lnSpc>
              <a:spcBef>
                <a:spcPct val="0"/>
              </a:spcBef>
            </a:pPr>
            <a:endParaRPr lang="en-US" sz="3308">
              <a:solidFill>
                <a:srgbClr val="FFFFFF"/>
              </a:solidFill>
              <a:latin typeface="Canva Sans"/>
              <a:ea typeface="Canva Sans"/>
              <a:cs typeface="Canva Sans"/>
              <a:sym typeface="Canv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627304" y="2709409"/>
            <a:ext cx="10217128" cy="6210443"/>
          </a:xfrm>
          <a:custGeom>
            <a:avLst/>
            <a:gdLst/>
            <a:ahLst/>
            <a:cxnLst/>
            <a:rect l="l" t="t" r="r" b="b"/>
            <a:pathLst>
              <a:path w="10217128" h="6210443">
                <a:moveTo>
                  <a:pt x="0" y="0"/>
                </a:moveTo>
                <a:lnTo>
                  <a:pt x="10217128" y="0"/>
                </a:lnTo>
                <a:lnTo>
                  <a:pt x="10217128" y="6210444"/>
                </a:lnTo>
                <a:lnTo>
                  <a:pt x="0" y="6210444"/>
                </a:lnTo>
                <a:lnTo>
                  <a:pt x="0" y="0"/>
                </a:lnTo>
                <a:close/>
              </a:path>
            </a:pathLst>
          </a:custGeom>
          <a:blipFill>
            <a:blip r:embed="rId4"/>
            <a:stretch>
              <a:fillRect r="-8061"/>
            </a:stretch>
          </a:blipFill>
        </p:spPr>
      </p:sp>
      <p:sp>
        <p:nvSpPr>
          <p:cNvPr id="13" name="Freeform 13"/>
          <p:cNvSpPr/>
          <p:nvPr/>
        </p:nvSpPr>
        <p:spPr>
          <a:xfrm>
            <a:off x="7072216" y="6940636"/>
            <a:ext cx="10618266" cy="1528013"/>
          </a:xfrm>
          <a:custGeom>
            <a:avLst/>
            <a:gdLst/>
            <a:ahLst/>
            <a:cxnLst/>
            <a:rect l="l" t="t" r="r" b="b"/>
            <a:pathLst>
              <a:path w="10618266" h="1528013">
                <a:moveTo>
                  <a:pt x="0" y="0"/>
                </a:moveTo>
                <a:lnTo>
                  <a:pt x="10618266" y="0"/>
                </a:lnTo>
                <a:lnTo>
                  <a:pt x="10618266" y="1528012"/>
                </a:lnTo>
                <a:lnTo>
                  <a:pt x="0" y="1528012"/>
                </a:lnTo>
                <a:lnTo>
                  <a:pt x="0" y="0"/>
                </a:lnTo>
                <a:close/>
              </a:path>
            </a:pathLst>
          </a:custGeom>
          <a:blipFill>
            <a:blip r:embed="rId5"/>
            <a:stretch>
              <a:fillRect b="-12156"/>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07</a:t>
            </a:r>
          </a:p>
        </p:txBody>
      </p:sp>
      <p:sp>
        <p:nvSpPr>
          <p:cNvPr id="15" name="TextBox 15"/>
          <p:cNvSpPr txBox="1"/>
          <p:nvPr/>
        </p:nvSpPr>
        <p:spPr>
          <a:xfrm>
            <a:off x="663447" y="874753"/>
            <a:ext cx="15935920" cy="2375304"/>
          </a:xfrm>
          <a:prstGeom prst="rect">
            <a:avLst/>
          </a:prstGeom>
        </p:spPr>
        <p:txBody>
          <a:bodyPr lIns="0" tIns="0" rIns="0" bIns="0" rtlCol="0" anchor="t">
            <a:spAutoFit/>
          </a:bodyPr>
          <a:lstStyle/>
          <a:p>
            <a:pPr algn="just">
              <a:lnSpc>
                <a:spcPts val="4631"/>
              </a:lnSpc>
            </a:pPr>
            <a:r>
              <a:rPr lang="en-US" sz="3308">
                <a:solidFill>
                  <a:srgbClr val="FFFFFF"/>
                </a:solidFill>
                <a:latin typeface="Canva Sans"/>
                <a:ea typeface="Canva Sans"/>
                <a:cs typeface="Canva Sans"/>
                <a:sym typeface="Canva Sans"/>
              </a:rPr>
              <a:t>5. Who is the best customer? The customer who has spent the most money will be declared the best customer. Write a query that returns the person who has spent the most money</a:t>
            </a:r>
          </a:p>
          <a:p>
            <a:pPr algn="ctr">
              <a:lnSpc>
                <a:spcPts val="5190"/>
              </a:lnSpc>
              <a:spcBef>
                <a:spcPct val="0"/>
              </a:spcBef>
            </a:pPr>
            <a:endParaRPr lang="en-US" sz="3308">
              <a:solidFill>
                <a:srgbClr val="FFFFFF"/>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028700" y="2830017"/>
            <a:ext cx="9073648" cy="5725179"/>
          </a:xfrm>
          <a:custGeom>
            <a:avLst/>
            <a:gdLst/>
            <a:ahLst/>
            <a:cxnLst/>
            <a:rect l="l" t="t" r="r" b="b"/>
            <a:pathLst>
              <a:path w="9073648" h="5725179">
                <a:moveTo>
                  <a:pt x="0" y="0"/>
                </a:moveTo>
                <a:lnTo>
                  <a:pt x="9073648" y="0"/>
                </a:lnTo>
                <a:lnTo>
                  <a:pt x="9073648" y="5725180"/>
                </a:lnTo>
                <a:lnTo>
                  <a:pt x="0" y="5725180"/>
                </a:lnTo>
                <a:lnTo>
                  <a:pt x="0" y="0"/>
                </a:lnTo>
                <a:close/>
              </a:path>
            </a:pathLst>
          </a:custGeom>
          <a:blipFill>
            <a:blip r:embed="rId4"/>
            <a:stretch>
              <a:fillRect/>
            </a:stretch>
          </a:blipFill>
        </p:spPr>
      </p:sp>
      <p:sp>
        <p:nvSpPr>
          <p:cNvPr id="13" name="Freeform 13"/>
          <p:cNvSpPr/>
          <p:nvPr/>
        </p:nvSpPr>
        <p:spPr>
          <a:xfrm>
            <a:off x="9553423" y="4123260"/>
            <a:ext cx="8220227" cy="5238834"/>
          </a:xfrm>
          <a:custGeom>
            <a:avLst/>
            <a:gdLst/>
            <a:ahLst/>
            <a:cxnLst/>
            <a:rect l="l" t="t" r="r" b="b"/>
            <a:pathLst>
              <a:path w="8220227" h="5238834">
                <a:moveTo>
                  <a:pt x="0" y="0"/>
                </a:moveTo>
                <a:lnTo>
                  <a:pt x="8220227" y="0"/>
                </a:lnTo>
                <a:lnTo>
                  <a:pt x="8220227" y="5238834"/>
                </a:lnTo>
                <a:lnTo>
                  <a:pt x="0" y="5238834"/>
                </a:lnTo>
                <a:lnTo>
                  <a:pt x="0" y="0"/>
                </a:lnTo>
                <a:close/>
              </a:path>
            </a:pathLst>
          </a:custGeom>
          <a:blipFill>
            <a:blip r:embed="rId5"/>
            <a:stretch>
              <a:fillRect r="-27462"/>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08</a:t>
            </a:r>
          </a:p>
        </p:txBody>
      </p:sp>
      <p:sp>
        <p:nvSpPr>
          <p:cNvPr id="15" name="TextBox 15"/>
          <p:cNvSpPr txBox="1"/>
          <p:nvPr/>
        </p:nvSpPr>
        <p:spPr>
          <a:xfrm>
            <a:off x="663447" y="874753"/>
            <a:ext cx="15935920" cy="2955706"/>
          </a:xfrm>
          <a:prstGeom prst="rect">
            <a:avLst/>
          </a:prstGeom>
        </p:spPr>
        <p:txBody>
          <a:bodyPr lIns="0" tIns="0" rIns="0" bIns="0" rtlCol="0" anchor="t">
            <a:spAutoFit/>
          </a:bodyPr>
          <a:lstStyle/>
          <a:p>
            <a:pPr algn="just">
              <a:lnSpc>
                <a:spcPts val="4631"/>
              </a:lnSpc>
            </a:pPr>
            <a:r>
              <a:rPr lang="en-US" sz="3308">
                <a:solidFill>
                  <a:srgbClr val="FFFFFF"/>
                </a:solidFill>
                <a:latin typeface="Canva Sans"/>
                <a:ea typeface="Canva Sans"/>
                <a:cs typeface="Canva Sans"/>
                <a:sym typeface="Canva Sans"/>
              </a:rPr>
              <a:t>6. Write query to return the email, first name, last name, &amp; Genre of all Rock Music listeners. Return your list ordered alphabetically by email starting with A</a:t>
            </a:r>
          </a:p>
          <a:p>
            <a:pPr algn="just">
              <a:lnSpc>
                <a:spcPts val="4631"/>
              </a:lnSpc>
            </a:pPr>
            <a:endParaRPr lang="en-US" sz="3308">
              <a:solidFill>
                <a:srgbClr val="FFFFFF"/>
              </a:solidFill>
              <a:latin typeface="Canva Sans"/>
              <a:ea typeface="Canva Sans"/>
              <a:cs typeface="Canva Sans"/>
              <a:sym typeface="Canva Sans"/>
            </a:endParaRPr>
          </a:p>
          <a:p>
            <a:pPr algn="ctr">
              <a:lnSpc>
                <a:spcPts val="5190"/>
              </a:lnSpc>
              <a:spcBef>
                <a:spcPct val="0"/>
              </a:spcBef>
            </a:pPr>
            <a:endParaRPr lang="en-US" sz="3308">
              <a:solidFill>
                <a:srgbClr val="FFFFFF"/>
              </a:solidFill>
              <a:latin typeface="Canva Sans"/>
              <a:ea typeface="Canva Sans"/>
              <a:cs typeface="Canva Sans"/>
              <a:sym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871352" y="2580347"/>
            <a:ext cx="8645416" cy="7192303"/>
          </a:xfrm>
          <a:custGeom>
            <a:avLst/>
            <a:gdLst/>
            <a:ahLst/>
            <a:cxnLst/>
            <a:rect l="l" t="t" r="r" b="b"/>
            <a:pathLst>
              <a:path w="8645416" h="7192303">
                <a:moveTo>
                  <a:pt x="0" y="0"/>
                </a:moveTo>
                <a:lnTo>
                  <a:pt x="8645416" y="0"/>
                </a:lnTo>
                <a:lnTo>
                  <a:pt x="8645416" y="7192303"/>
                </a:lnTo>
                <a:lnTo>
                  <a:pt x="0" y="7192303"/>
                </a:lnTo>
                <a:lnTo>
                  <a:pt x="0" y="0"/>
                </a:lnTo>
                <a:close/>
              </a:path>
            </a:pathLst>
          </a:custGeom>
          <a:blipFill>
            <a:blip r:embed="rId4"/>
            <a:stretch>
              <a:fillRect t="-1975" r="-3314" b="-17161"/>
            </a:stretch>
          </a:blipFill>
        </p:spPr>
      </p:sp>
      <p:sp>
        <p:nvSpPr>
          <p:cNvPr id="13" name="Freeform 13"/>
          <p:cNvSpPr/>
          <p:nvPr/>
        </p:nvSpPr>
        <p:spPr>
          <a:xfrm>
            <a:off x="9669586" y="3590492"/>
            <a:ext cx="8104064" cy="5327373"/>
          </a:xfrm>
          <a:custGeom>
            <a:avLst/>
            <a:gdLst/>
            <a:ahLst/>
            <a:cxnLst/>
            <a:rect l="l" t="t" r="r" b="b"/>
            <a:pathLst>
              <a:path w="8104064" h="5327373">
                <a:moveTo>
                  <a:pt x="0" y="0"/>
                </a:moveTo>
                <a:lnTo>
                  <a:pt x="8104064" y="0"/>
                </a:lnTo>
                <a:lnTo>
                  <a:pt x="8104064" y="5327373"/>
                </a:lnTo>
                <a:lnTo>
                  <a:pt x="0" y="5327373"/>
                </a:lnTo>
                <a:lnTo>
                  <a:pt x="0" y="0"/>
                </a:lnTo>
                <a:close/>
              </a:path>
            </a:pathLst>
          </a:custGeom>
          <a:blipFill>
            <a:blip r:embed="rId5"/>
            <a:stretch>
              <a:fillRect/>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09</a:t>
            </a:r>
          </a:p>
        </p:txBody>
      </p:sp>
      <p:sp>
        <p:nvSpPr>
          <p:cNvPr id="15" name="TextBox 15"/>
          <p:cNvSpPr txBox="1"/>
          <p:nvPr/>
        </p:nvSpPr>
        <p:spPr>
          <a:xfrm>
            <a:off x="663447" y="874753"/>
            <a:ext cx="15935920" cy="2375304"/>
          </a:xfrm>
          <a:prstGeom prst="rect">
            <a:avLst/>
          </a:prstGeom>
        </p:spPr>
        <p:txBody>
          <a:bodyPr lIns="0" tIns="0" rIns="0" bIns="0" rtlCol="0" anchor="t">
            <a:spAutoFit/>
          </a:bodyPr>
          <a:lstStyle/>
          <a:p>
            <a:pPr algn="just">
              <a:lnSpc>
                <a:spcPts val="4631"/>
              </a:lnSpc>
            </a:pPr>
            <a:r>
              <a:rPr lang="en-US" sz="3308">
                <a:solidFill>
                  <a:srgbClr val="FFFFFF"/>
                </a:solidFill>
                <a:latin typeface="Canva Sans"/>
                <a:ea typeface="Canva Sans"/>
                <a:cs typeface="Canva Sans"/>
                <a:sym typeface="Canva Sans"/>
              </a:rPr>
              <a:t>7. Let's invite the artists who have written the most rock music in our dataset. Write a query that returns the Artist name and total track count of the top 10 rock bands</a:t>
            </a:r>
          </a:p>
          <a:p>
            <a:pPr algn="ctr">
              <a:lnSpc>
                <a:spcPts val="5190"/>
              </a:lnSpc>
              <a:spcBef>
                <a:spcPct val="0"/>
              </a:spcBef>
            </a:pPr>
            <a:endParaRPr lang="en-US" sz="3308">
              <a:solidFill>
                <a:srgbClr val="FFFFFF"/>
              </a:solidFill>
              <a:latin typeface="Canva Sans"/>
              <a:ea typeface="Canva Sans"/>
              <a:cs typeface="Canva Sans"/>
              <a:sym typeface="Canv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028700" y="3002732"/>
            <a:ext cx="10186075" cy="4281536"/>
          </a:xfrm>
          <a:custGeom>
            <a:avLst/>
            <a:gdLst/>
            <a:ahLst/>
            <a:cxnLst/>
            <a:rect l="l" t="t" r="r" b="b"/>
            <a:pathLst>
              <a:path w="10186075" h="4281536">
                <a:moveTo>
                  <a:pt x="0" y="0"/>
                </a:moveTo>
                <a:lnTo>
                  <a:pt x="10186075" y="0"/>
                </a:lnTo>
                <a:lnTo>
                  <a:pt x="10186075" y="4281536"/>
                </a:lnTo>
                <a:lnTo>
                  <a:pt x="0" y="4281536"/>
                </a:lnTo>
                <a:lnTo>
                  <a:pt x="0" y="0"/>
                </a:lnTo>
                <a:close/>
              </a:path>
            </a:pathLst>
          </a:custGeom>
          <a:blipFill>
            <a:blip r:embed="rId4"/>
            <a:stretch>
              <a:fillRect r="-7487"/>
            </a:stretch>
          </a:blipFill>
        </p:spPr>
      </p:sp>
      <p:sp>
        <p:nvSpPr>
          <p:cNvPr id="13" name="Freeform 13"/>
          <p:cNvSpPr/>
          <p:nvPr/>
        </p:nvSpPr>
        <p:spPr>
          <a:xfrm>
            <a:off x="10904167" y="3840810"/>
            <a:ext cx="6355133" cy="5417490"/>
          </a:xfrm>
          <a:custGeom>
            <a:avLst/>
            <a:gdLst/>
            <a:ahLst/>
            <a:cxnLst/>
            <a:rect l="l" t="t" r="r" b="b"/>
            <a:pathLst>
              <a:path w="6355133" h="5417490">
                <a:moveTo>
                  <a:pt x="0" y="0"/>
                </a:moveTo>
                <a:lnTo>
                  <a:pt x="6355133" y="0"/>
                </a:lnTo>
                <a:lnTo>
                  <a:pt x="6355133" y="5417490"/>
                </a:lnTo>
                <a:lnTo>
                  <a:pt x="0" y="5417490"/>
                </a:lnTo>
                <a:lnTo>
                  <a:pt x="0" y="0"/>
                </a:lnTo>
                <a:close/>
              </a:path>
            </a:pathLst>
          </a:custGeom>
          <a:blipFill>
            <a:blip r:embed="rId5"/>
            <a:stretch>
              <a:fillRect/>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10</a:t>
            </a:r>
          </a:p>
        </p:txBody>
      </p:sp>
      <p:sp>
        <p:nvSpPr>
          <p:cNvPr id="15" name="TextBox 15"/>
          <p:cNvSpPr txBox="1"/>
          <p:nvPr/>
        </p:nvSpPr>
        <p:spPr>
          <a:xfrm>
            <a:off x="663447" y="874753"/>
            <a:ext cx="15935920" cy="2375304"/>
          </a:xfrm>
          <a:prstGeom prst="rect">
            <a:avLst/>
          </a:prstGeom>
        </p:spPr>
        <p:txBody>
          <a:bodyPr lIns="0" tIns="0" rIns="0" bIns="0" rtlCol="0" anchor="t">
            <a:spAutoFit/>
          </a:bodyPr>
          <a:lstStyle/>
          <a:p>
            <a:pPr algn="just">
              <a:lnSpc>
                <a:spcPts val="4631"/>
              </a:lnSpc>
            </a:pPr>
            <a:r>
              <a:rPr lang="en-US" sz="3308">
                <a:solidFill>
                  <a:srgbClr val="FFFFFF"/>
                </a:solidFill>
                <a:latin typeface="Canva Sans"/>
                <a:ea typeface="Canva Sans"/>
                <a:cs typeface="Canva Sans"/>
                <a:sym typeface="Canva Sans"/>
              </a:rPr>
              <a:t>8. Return all the track names that have a song length longer than the average song length. Return the Name and Milliseconds for each track. Order by the song length with the longest songs listed first</a:t>
            </a:r>
          </a:p>
          <a:p>
            <a:pPr algn="ctr">
              <a:lnSpc>
                <a:spcPts val="5190"/>
              </a:lnSpc>
              <a:spcBef>
                <a:spcPct val="0"/>
              </a:spcBef>
            </a:pPr>
            <a:endParaRPr lang="en-US" sz="3308">
              <a:solidFill>
                <a:srgbClr val="FFFFFF"/>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830411" y="2669655"/>
            <a:ext cx="12316937" cy="6701249"/>
          </a:xfrm>
          <a:custGeom>
            <a:avLst/>
            <a:gdLst/>
            <a:ahLst/>
            <a:cxnLst/>
            <a:rect l="l" t="t" r="r" b="b"/>
            <a:pathLst>
              <a:path w="12316937" h="6701249">
                <a:moveTo>
                  <a:pt x="0" y="0"/>
                </a:moveTo>
                <a:lnTo>
                  <a:pt x="12316938" y="0"/>
                </a:lnTo>
                <a:lnTo>
                  <a:pt x="12316938" y="6701249"/>
                </a:lnTo>
                <a:lnTo>
                  <a:pt x="0" y="6701249"/>
                </a:lnTo>
                <a:lnTo>
                  <a:pt x="0" y="0"/>
                </a:lnTo>
                <a:close/>
              </a:path>
            </a:pathLst>
          </a:custGeom>
          <a:blipFill>
            <a:blip r:embed="rId4"/>
            <a:stretch>
              <a:fillRect/>
            </a:stretch>
          </a:blipFill>
        </p:spPr>
      </p:sp>
      <p:sp>
        <p:nvSpPr>
          <p:cNvPr id="13" name="Freeform 13"/>
          <p:cNvSpPr/>
          <p:nvPr/>
        </p:nvSpPr>
        <p:spPr>
          <a:xfrm>
            <a:off x="9650130" y="2090042"/>
            <a:ext cx="8637870" cy="5422965"/>
          </a:xfrm>
          <a:custGeom>
            <a:avLst/>
            <a:gdLst/>
            <a:ahLst/>
            <a:cxnLst/>
            <a:rect l="l" t="t" r="r" b="b"/>
            <a:pathLst>
              <a:path w="8637870" h="5422965">
                <a:moveTo>
                  <a:pt x="0" y="0"/>
                </a:moveTo>
                <a:lnTo>
                  <a:pt x="8637870" y="0"/>
                </a:lnTo>
                <a:lnTo>
                  <a:pt x="8637870" y="5422964"/>
                </a:lnTo>
                <a:lnTo>
                  <a:pt x="0" y="5422964"/>
                </a:lnTo>
                <a:lnTo>
                  <a:pt x="0" y="0"/>
                </a:lnTo>
                <a:close/>
              </a:path>
            </a:pathLst>
          </a:custGeom>
          <a:blipFill>
            <a:blip r:embed="rId5"/>
            <a:stretch>
              <a:fillRect r="-29465"/>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11</a:t>
            </a:r>
          </a:p>
        </p:txBody>
      </p:sp>
      <p:sp>
        <p:nvSpPr>
          <p:cNvPr id="15" name="TextBox 15"/>
          <p:cNvSpPr txBox="1"/>
          <p:nvPr/>
        </p:nvSpPr>
        <p:spPr>
          <a:xfrm>
            <a:off x="663447" y="874753"/>
            <a:ext cx="15935920" cy="1794901"/>
          </a:xfrm>
          <a:prstGeom prst="rect">
            <a:avLst/>
          </a:prstGeom>
        </p:spPr>
        <p:txBody>
          <a:bodyPr lIns="0" tIns="0" rIns="0" bIns="0" rtlCol="0" anchor="t">
            <a:spAutoFit/>
          </a:bodyPr>
          <a:lstStyle/>
          <a:p>
            <a:pPr algn="just">
              <a:lnSpc>
                <a:spcPts val="4631"/>
              </a:lnSpc>
            </a:pPr>
            <a:r>
              <a:rPr lang="en-US" sz="3308">
                <a:solidFill>
                  <a:srgbClr val="FFFFFF"/>
                </a:solidFill>
                <a:latin typeface="Canva Sans"/>
                <a:ea typeface="Canva Sans"/>
                <a:cs typeface="Canva Sans"/>
                <a:sym typeface="Canva Sans"/>
              </a:rPr>
              <a:t>9. Find how much amount spent by each customer on artists? Write a query to return customer name, artist name and total spent</a:t>
            </a:r>
          </a:p>
          <a:p>
            <a:pPr algn="ctr">
              <a:lnSpc>
                <a:spcPts val="5190"/>
              </a:lnSpc>
              <a:spcBef>
                <a:spcPct val="0"/>
              </a:spcBef>
            </a:pPr>
            <a:endParaRPr lang="en-US" sz="3308">
              <a:solidFill>
                <a:srgbClr val="FFFFFF"/>
              </a:solidFill>
              <a:latin typeface="Canva Sans"/>
              <a:ea typeface="Canva Sans"/>
              <a:cs typeface="Canva Sans"/>
              <a:sym typeface="Canv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847787" y="3222101"/>
            <a:ext cx="9687978" cy="5900197"/>
          </a:xfrm>
          <a:custGeom>
            <a:avLst/>
            <a:gdLst/>
            <a:ahLst/>
            <a:cxnLst/>
            <a:rect l="l" t="t" r="r" b="b"/>
            <a:pathLst>
              <a:path w="9687978" h="5900197">
                <a:moveTo>
                  <a:pt x="0" y="0"/>
                </a:moveTo>
                <a:lnTo>
                  <a:pt x="9687978" y="0"/>
                </a:lnTo>
                <a:lnTo>
                  <a:pt x="9687978" y="5900198"/>
                </a:lnTo>
                <a:lnTo>
                  <a:pt x="0" y="5900198"/>
                </a:lnTo>
                <a:lnTo>
                  <a:pt x="0" y="0"/>
                </a:lnTo>
                <a:close/>
              </a:path>
            </a:pathLst>
          </a:custGeom>
          <a:blipFill>
            <a:blip r:embed="rId4"/>
            <a:stretch>
              <a:fillRect/>
            </a:stretch>
          </a:blipFill>
        </p:spPr>
      </p:sp>
      <p:sp>
        <p:nvSpPr>
          <p:cNvPr id="13" name="Freeform 13"/>
          <p:cNvSpPr/>
          <p:nvPr/>
        </p:nvSpPr>
        <p:spPr>
          <a:xfrm>
            <a:off x="10294440" y="3597425"/>
            <a:ext cx="5879732" cy="5524873"/>
          </a:xfrm>
          <a:custGeom>
            <a:avLst/>
            <a:gdLst/>
            <a:ahLst/>
            <a:cxnLst/>
            <a:rect l="l" t="t" r="r" b="b"/>
            <a:pathLst>
              <a:path w="5879732" h="5524873">
                <a:moveTo>
                  <a:pt x="0" y="0"/>
                </a:moveTo>
                <a:lnTo>
                  <a:pt x="5879732" y="0"/>
                </a:lnTo>
                <a:lnTo>
                  <a:pt x="5879732" y="5524874"/>
                </a:lnTo>
                <a:lnTo>
                  <a:pt x="0" y="5524874"/>
                </a:lnTo>
                <a:lnTo>
                  <a:pt x="0" y="0"/>
                </a:lnTo>
                <a:close/>
              </a:path>
            </a:pathLst>
          </a:custGeom>
          <a:blipFill>
            <a:blip r:embed="rId5"/>
            <a:stretch>
              <a:fillRect r="-36318"/>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12</a:t>
            </a:r>
          </a:p>
        </p:txBody>
      </p:sp>
      <p:sp>
        <p:nvSpPr>
          <p:cNvPr id="15" name="TextBox 15"/>
          <p:cNvSpPr txBox="1"/>
          <p:nvPr/>
        </p:nvSpPr>
        <p:spPr>
          <a:xfrm>
            <a:off x="663447" y="884278"/>
            <a:ext cx="15935920" cy="2802057"/>
          </a:xfrm>
          <a:prstGeom prst="rect">
            <a:avLst/>
          </a:prstGeom>
        </p:spPr>
        <p:txBody>
          <a:bodyPr lIns="0" tIns="0" rIns="0" bIns="0" rtlCol="0" anchor="t">
            <a:spAutoFit/>
          </a:bodyPr>
          <a:lstStyle/>
          <a:p>
            <a:pPr algn="just">
              <a:lnSpc>
                <a:spcPts val="4351"/>
              </a:lnSpc>
            </a:pPr>
            <a:r>
              <a:rPr lang="en-US" sz="3108">
                <a:solidFill>
                  <a:srgbClr val="FFFFFF"/>
                </a:solidFill>
                <a:latin typeface="Canva Sans"/>
                <a:ea typeface="Canva Sans"/>
                <a:cs typeface="Canva Sans"/>
                <a:sym typeface="Canva Sans"/>
              </a:rPr>
              <a:t>10.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p>
          <a:p>
            <a:pPr algn="ctr">
              <a:lnSpc>
                <a:spcPts val="4910"/>
              </a:lnSpc>
              <a:spcBef>
                <a:spcPct val="0"/>
              </a:spcBef>
            </a:pPr>
            <a:endParaRPr lang="en-US" sz="3108">
              <a:solidFill>
                <a:srgbClr val="FFFFFF"/>
              </a:solidFill>
              <a:latin typeface="Canva Sans"/>
              <a:ea typeface="Canva Sans"/>
              <a:cs typeface="Canva Sans"/>
              <a:sym typeface="Canv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663447" y="3171304"/>
            <a:ext cx="12067416" cy="6719101"/>
          </a:xfrm>
          <a:custGeom>
            <a:avLst/>
            <a:gdLst/>
            <a:ahLst/>
            <a:cxnLst/>
            <a:rect l="l" t="t" r="r" b="b"/>
            <a:pathLst>
              <a:path w="12067416" h="6719101">
                <a:moveTo>
                  <a:pt x="0" y="0"/>
                </a:moveTo>
                <a:lnTo>
                  <a:pt x="12067416" y="0"/>
                </a:lnTo>
                <a:lnTo>
                  <a:pt x="12067416" y="6719101"/>
                </a:lnTo>
                <a:lnTo>
                  <a:pt x="0" y="6719101"/>
                </a:lnTo>
                <a:lnTo>
                  <a:pt x="0" y="0"/>
                </a:lnTo>
                <a:close/>
              </a:path>
            </a:pathLst>
          </a:custGeom>
          <a:blipFill>
            <a:blip r:embed="rId4"/>
            <a:stretch>
              <a:fillRect/>
            </a:stretch>
          </a:blipFill>
        </p:spPr>
      </p:sp>
      <p:sp>
        <p:nvSpPr>
          <p:cNvPr id="13" name="Freeform 13"/>
          <p:cNvSpPr/>
          <p:nvPr/>
        </p:nvSpPr>
        <p:spPr>
          <a:xfrm>
            <a:off x="9360060" y="3363202"/>
            <a:ext cx="8413590" cy="3560596"/>
          </a:xfrm>
          <a:custGeom>
            <a:avLst/>
            <a:gdLst/>
            <a:ahLst/>
            <a:cxnLst/>
            <a:rect l="l" t="t" r="r" b="b"/>
            <a:pathLst>
              <a:path w="8413590" h="3560596">
                <a:moveTo>
                  <a:pt x="0" y="0"/>
                </a:moveTo>
                <a:lnTo>
                  <a:pt x="8413590" y="0"/>
                </a:lnTo>
                <a:lnTo>
                  <a:pt x="8413590" y="3560596"/>
                </a:lnTo>
                <a:lnTo>
                  <a:pt x="0" y="3560596"/>
                </a:lnTo>
                <a:lnTo>
                  <a:pt x="0" y="0"/>
                </a:lnTo>
                <a:close/>
              </a:path>
            </a:pathLst>
          </a:custGeom>
          <a:blipFill>
            <a:blip r:embed="rId5"/>
            <a:stretch>
              <a:fillRect r="-38445"/>
            </a:stretch>
          </a:blipFill>
          <a:ln w="38100" cap="sq">
            <a:solidFill>
              <a:srgbClr val="000000"/>
            </a:solidFill>
            <a:prstDash val="solid"/>
            <a:miter/>
          </a:ln>
        </p:spPr>
      </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13</a:t>
            </a:r>
          </a:p>
        </p:txBody>
      </p:sp>
      <p:sp>
        <p:nvSpPr>
          <p:cNvPr id="15" name="TextBox 15"/>
          <p:cNvSpPr txBox="1"/>
          <p:nvPr/>
        </p:nvSpPr>
        <p:spPr>
          <a:xfrm>
            <a:off x="663447" y="884278"/>
            <a:ext cx="15935920" cy="3354507"/>
          </a:xfrm>
          <a:prstGeom prst="rect">
            <a:avLst/>
          </a:prstGeom>
        </p:spPr>
        <p:txBody>
          <a:bodyPr lIns="0" tIns="0" rIns="0" bIns="0" rtlCol="0" anchor="t">
            <a:spAutoFit/>
          </a:bodyPr>
          <a:lstStyle/>
          <a:p>
            <a:pPr algn="just">
              <a:lnSpc>
                <a:spcPts val="4351"/>
              </a:lnSpc>
            </a:pPr>
            <a:r>
              <a:rPr lang="en-US" sz="3108" dirty="0">
                <a:solidFill>
                  <a:srgbClr val="FFFFFF"/>
                </a:solidFill>
                <a:latin typeface="Canva Sans"/>
                <a:ea typeface="Canva Sans"/>
                <a:cs typeface="Canva Sans"/>
                <a:sym typeface="Canva Sans"/>
              </a:rPr>
              <a:t>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a:p>
            <a:pPr algn="just">
              <a:lnSpc>
                <a:spcPts val="4351"/>
              </a:lnSpc>
            </a:pPr>
            <a:endParaRPr lang="en-US" sz="3108" dirty="0">
              <a:solidFill>
                <a:srgbClr val="FFFFFF"/>
              </a:solidFill>
              <a:latin typeface="Canva Sans"/>
              <a:ea typeface="Canva Sans"/>
              <a:cs typeface="Canva Sans"/>
              <a:sym typeface="Canva Sans"/>
            </a:endParaRPr>
          </a:p>
          <a:p>
            <a:pPr algn="ctr">
              <a:lnSpc>
                <a:spcPts val="4910"/>
              </a:lnSpc>
              <a:spcBef>
                <a:spcPct val="0"/>
              </a:spcBef>
            </a:pPr>
            <a:endParaRPr lang="en-US" sz="3108" dirty="0">
              <a:solidFill>
                <a:srgbClr val="FFFFFF"/>
              </a:solidFill>
              <a:latin typeface="Canva Sans"/>
              <a:ea typeface="Canva Sans"/>
              <a:cs typeface="Canva Sans"/>
              <a:sym typeface="Canv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13</a:t>
            </a:r>
          </a:p>
        </p:txBody>
      </p:sp>
      <p:sp>
        <p:nvSpPr>
          <p:cNvPr id="15" name="TextBox 15"/>
          <p:cNvSpPr txBox="1"/>
          <p:nvPr/>
        </p:nvSpPr>
        <p:spPr>
          <a:xfrm>
            <a:off x="663447" y="884278"/>
            <a:ext cx="15935920" cy="1138453"/>
          </a:xfrm>
          <a:prstGeom prst="rect">
            <a:avLst/>
          </a:prstGeom>
        </p:spPr>
        <p:txBody>
          <a:bodyPr lIns="0" tIns="0" rIns="0" bIns="0" rtlCol="0" anchor="t">
            <a:spAutoFit/>
          </a:bodyPr>
          <a:lstStyle/>
          <a:p>
            <a:pPr algn="just">
              <a:lnSpc>
                <a:spcPts val="4351"/>
              </a:lnSpc>
            </a:pPr>
            <a:r>
              <a:rPr lang="en-US" sz="2800" dirty="0">
                <a:solidFill>
                  <a:schemeClr val="bg1"/>
                </a:solidFill>
                <a:latin typeface="Canva Sans"/>
                <a:ea typeface="Canva Sans"/>
                <a:cs typeface="Canva Sans"/>
                <a:sym typeface="Canva Sans"/>
              </a:rPr>
              <a:t>12. </a:t>
            </a:r>
            <a:r>
              <a:rPr lang="en-US" sz="2800" dirty="0">
                <a:solidFill>
                  <a:schemeClr val="bg1"/>
                </a:solidFill>
                <a:latin typeface="Consolas" panose="020B0609020204030204" pitchFamily="49" charset="0"/>
              </a:rPr>
              <a:t>Retrieve the most expensive track for each genre</a:t>
            </a:r>
            <a:endParaRPr lang="en-US" sz="2800" dirty="0">
              <a:solidFill>
                <a:schemeClr val="bg1"/>
              </a:solidFill>
              <a:latin typeface="Canva Sans"/>
              <a:ea typeface="Canva Sans"/>
              <a:cs typeface="Canva Sans"/>
              <a:sym typeface="Canva Sans"/>
            </a:endParaRPr>
          </a:p>
          <a:p>
            <a:pPr algn="ctr">
              <a:lnSpc>
                <a:spcPts val="4910"/>
              </a:lnSpc>
              <a:spcBef>
                <a:spcPct val="0"/>
              </a:spcBef>
            </a:pPr>
            <a:endParaRPr lang="en-US" sz="3108" dirty="0">
              <a:solidFill>
                <a:srgbClr val="FFFFFF"/>
              </a:solidFill>
              <a:latin typeface="Canva Sans"/>
              <a:ea typeface="Canva Sans"/>
              <a:cs typeface="Canva Sans"/>
              <a:sym typeface="Canva Sans"/>
            </a:endParaRPr>
          </a:p>
        </p:txBody>
      </p:sp>
      <p:pic>
        <p:nvPicPr>
          <p:cNvPr id="17" name="Picture 16">
            <a:extLst>
              <a:ext uri="{FF2B5EF4-FFF2-40B4-BE49-F238E27FC236}">
                <a16:creationId xmlns:a16="http://schemas.microsoft.com/office/drawing/2014/main" id="{4C8DA368-CAEC-1173-7259-7A0B9E0577B8}"/>
              </a:ext>
            </a:extLst>
          </p:cNvPr>
          <p:cNvPicPr>
            <a:picLocks noChangeAspect="1"/>
          </p:cNvPicPr>
          <p:nvPr/>
        </p:nvPicPr>
        <p:blipFill>
          <a:blip r:embed="rId4"/>
          <a:stretch>
            <a:fillRect/>
          </a:stretch>
        </p:blipFill>
        <p:spPr>
          <a:xfrm>
            <a:off x="847787" y="2022731"/>
            <a:ext cx="10658413" cy="2092069"/>
          </a:xfrm>
          <a:prstGeom prst="rect">
            <a:avLst/>
          </a:prstGeom>
        </p:spPr>
      </p:pic>
      <p:pic>
        <p:nvPicPr>
          <p:cNvPr id="19" name="Picture 18">
            <a:extLst>
              <a:ext uri="{FF2B5EF4-FFF2-40B4-BE49-F238E27FC236}">
                <a16:creationId xmlns:a16="http://schemas.microsoft.com/office/drawing/2014/main" id="{F5246BD3-74AB-3D15-0CC5-BA384D0CB8C6}"/>
              </a:ext>
            </a:extLst>
          </p:cNvPr>
          <p:cNvPicPr>
            <a:picLocks noChangeAspect="1"/>
          </p:cNvPicPr>
          <p:nvPr/>
        </p:nvPicPr>
        <p:blipFill>
          <a:blip r:embed="rId5"/>
          <a:stretch>
            <a:fillRect/>
          </a:stretch>
        </p:blipFill>
        <p:spPr>
          <a:xfrm>
            <a:off x="10439400" y="1658470"/>
            <a:ext cx="5334000" cy="28205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2" name="TextBox 15">
            <a:extLst>
              <a:ext uri="{FF2B5EF4-FFF2-40B4-BE49-F238E27FC236}">
                <a16:creationId xmlns:a16="http://schemas.microsoft.com/office/drawing/2014/main" id="{D71C52A4-5A75-C2FE-9058-4FC9E2401E32}"/>
              </a:ext>
            </a:extLst>
          </p:cNvPr>
          <p:cNvSpPr txBox="1"/>
          <p:nvPr/>
        </p:nvSpPr>
        <p:spPr>
          <a:xfrm>
            <a:off x="867160" y="5108405"/>
            <a:ext cx="15935920" cy="1138453"/>
          </a:xfrm>
          <a:prstGeom prst="rect">
            <a:avLst/>
          </a:prstGeom>
        </p:spPr>
        <p:txBody>
          <a:bodyPr lIns="0" tIns="0" rIns="0" bIns="0" rtlCol="0" anchor="t">
            <a:spAutoFit/>
          </a:bodyPr>
          <a:lstStyle/>
          <a:p>
            <a:pPr algn="just">
              <a:lnSpc>
                <a:spcPts val="4351"/>
              </a:lnSpc>
            </a:pPr>
            <a:r>
              <a:rPr lang="en-US" sz="2800" dirty="0">
                <a:solidFill>
                  <a:schemeClr val="bg1"/>
                </a:solidFill>
                <a:latin typeface="Canva Sans"/>
                <a:ea typeface="Canva Sans"/>
                <a:cs typeface="Canva Sans"/>
                <a:sym typeface="Canva Sans"/>
              </a:rPr>
              <a:t>13. </a:t>
            </a:r>
            <a:r>
              <a:rPr lang="en-US" sz="2800" dirty="0">
                <a:solidFill>
                  <a:schemeClr val="bg1"/>
                </a:solidFill>
                <a:latin typeface="Canva Sans" panose="020B0604020202020204" charset="0"/>
              </a:rPr>
              <a:t>List all playlists and the number of tracks in each playlist</a:t>
            </a:r>
            <a:endParaRPr lang="en-US" sz="2800" dirty="0">
              <a:solidFill>
                <a:schemeClr val="bg1"/>
              </a:solidFill>
              <a:latin typeface="Canva Sans" panose="020B0604020202020204" charset="0"/>
              <a:sym typeface="Canva Sans"/>
            </a:endParaRPr>
          </a:p>
          <a:p>
            <a:pPr algn="ctr">
              <a:lnSpc>
                <a:spcPts val="4910"/>
              </a:lnSpc>
              <a:spcBef>
                <a:spcPct val="0"/>
              </a:spcBef>
            </a:pPr>
            <a:endParaRPr lang="en-US" sz="3108" dirty="0">
              <a:solidFill>
                <a:srgbClr val="FFFFFF"/>
              </a:solidFill>
              <a:latin typeface="Canva Sans"/>
              <a:ea typeface="Canva Sans"/>
              <a:cs typeface="Canva Sans"/>
              <a:sym typeface="Canva Sans"/>
            </a:endParaRPr>
          </a:p>
        </p:txBody>
      </p:sp>
      <p:pic>
        <p:nvPicPr>
          <p:cNvPr id="24" name="Picture 23">
            <a:extLst>
              <a:ext uri="{FF2B5EF4-FFF2-40B4-BE49-F238E27FC236}">
                <a16:creationId xmlns:a16="http://schemas.microsoft.com/office/drawing/2014/main" id="{9244FA32-76B5-A4CB-6DAE-F8C2FC2DFD13}"/>
              </a:ext>
            </a:extLst>
          </p:cNvPr>
          <p:cNvPicPr>
            <a:picLocks noChangeAspect="1"/>
          </p:cNvPicPr>
          <p:nvPr/>
        </p:nvPicPr>
        <p:blipFill>
          <a:blip r:embed="rId6"/>
          <a:stretch>
            <a:fillRect/>
          </a:stretch>
        </p:blipFill>
        <p:spPr>
          <a:xfrm>
            <a:off x="868452" y="6172200"/>
            <a:ext cx="9418548" cy="2400300"/>
          </a:xfrm>
          <a:prstGeom prst="rect">
            <a:avLst/>
          </a:prstGeom>
        </p:spPr>
      </p:pic>
      <p:pic>
        <p:nvPicPr>
          <p:cNvPr id="26" name="Picture 25">
            <a:extLst>
              <a:ext uri="{FF2B5EF4-FFF2-40B4-BE49-F238E27FC236}">
                <a16:creationId xmlns:a16="http://schemas.microsoft.com/office/drawing/2014/main" id="{796E5F8C-8C25-A7C0-91BA-64B0174B68F7}"/>
              </a:ext>
            </a:extLst>
          </p:cNvPr>
          <p:cNvPicPr>
            <a:picLocks noChangeAspect="1"/>
          </p:cNvPicPr>
          <p:nvPr/>
        </p:nvPicPr>
        <p:blipFill>
          <a:blip r:embed="rId7"/>
          <a:stretch>
            <a:fillRect/>
          </a:stretch>
        </p:blipFill>
        <p:spPr>
          <a:xfrm>
            <a:off x="10225006" y="5943600"/>
            <a:ext cx="5514814" cy="2857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31594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13</a:t>
            </a:r>
          </a:p>
        </p:txBody>
      </p:sp>
      <p:sp>
        <p:nvSpPr>
          <p:cNvPr id="15" name="TextBox 15"/>
          <p:cNvSpPr txBox="1"/>
          <p:nvPr/>
        </p:nvSpPr>
        <p:spPr>
          <a:xfrm>
            <a:off x="663447" y="884278"/>
            <a:ext cx="15935920" cy="515910"/>
          </a:xfrm>
          <a:prstGeom prst="rect">
            <a:avLst/>
          </a:prstGeom>
        </p:spPr>
        <p:txBody>
          <a:bodyPr lIns="0" tIns="0" rIns="0" bIns="0" rtlCol="0" anchor="t">
            <a:spAutoFit/>
          </a:bodyPr>
          <a:lstStyle/>
          <a:p>
            <a:pPr algn="just">
              <a:lnSpc>
                <a:spcPts val="4351"/>
              </a:lnSpc>
            </a:pPr>
            <a:r>
              <a:rPr lang="en-US" sz="2800" dirty="0">
                <a:solidFill>
                  <a:schemeClr val="bg1"/>
                </a:solidFill>
                <a:latin typeface="Canva Sans"/>
                <a:ea typeface="Canva Sans"/>
                <a:cs typeface="Canva Sans"/>
                <a:sym typeface="Canva Sans"/>
              </a:rPr>
              <a:t>14. </a:t>
            </a:r>
            <a:r>
              <a:rPr lang="en-US" sz="2800" dirty="0">
                <a:solidFill>
                  <a:schemeClr val="bg1"/>
                </a:solidFill>
                <a:latin typeface="Canva Sans" panose="020B0604020202020204" charset="0"/>
              </a:rPr>
              <a:t>Find the average price of tracks in each album</a:t>
            </a:r>
            <a:endParaRPr lang="en-US" sz="2800" dirty="0">
              <a:solidFill>
                <a:schemeClr val="bg1"/>
              </a:solidFill>
              <a:latin typeface="Canva Sans" panose="020B0604020202020204" charset="0"/>
              <a:ea typeface="Canva Sans"/>
              <a:cs typeface="Canva Sans"/>
              <a:sym typeface="Canva Sans"/>
            </a:endParaRPr>
          </a:p>
        </p:txBody>
      </p:sp>
      <p:sp>
        <p:nvSpPr>
          <p:cNvPr id="22" name="TextBox 15">
            <a:extLst>
              <a:ext uri="{FF2B5EF4-FFF2-40B4-BE49-F238E27FC236}">
                <a16:creationId xmlns:a16="http://schemas.microsoft.com/office/drawing/2014/main" id="{D71C52A4-5A75-C2FE-9058-4FC9E2401E32}"/>
              </a:ext>
            </a:extLst>
          </p:cNvPr>
          <p:cNvSpPr txBox="1"/>
          <p:nvPr/>
        </p:nvSpPr>
        <p:spPr>
          <a:xfrm>
            <a:off x="867160" y="5108405"/>
            <a:ext cx="15935920" cy="1138453"/>
          </a:xfrm>
          <a:prstGeom prst="rect">
            <a:avLst/>
          </a:prstGeom>
        </p:spPr>
        <p:txBody>
          <a:bodyPr lIns="0" tIns="0" rIns="0" bIns="0" rtlCol="0" anchor="t">
            <a:spAutoFit/>
          </a:bodyPr>
          <a:lstStyle/>
          <a:p>
            <a:pPr algn="just">
              <a:lnSpc>
                <a:spcPts val="4351"/>
              </a:lnSpc>
            </a:pPr>
            <a:r>
              <a:rPr lang="en-US" sz="2800" dirty="0">
                <a:solidFill>
                  <a:schemeClr val="bg1"/>
                </a:solidFill>
                <a:latin typeface="Canva Sans"/>
                <a:ea typeface="Canva Sans"/>
                <a:cs typeface="Canva Sans"/>
                <a:sym typeface="Canva Sans"/>
              </a:rPr>
              <a:t>15. </a:t>
            </a:r>
            <a:r>
              <a:rPr lang="en-US" sz="2800" dirty="0">
                <a:solidFill>
                  <a:schemeClr val="bg1"/>
                </a:solidFill>
                <a:latin typeface="Canva Sans" panose="020B0604020202020204" charset="0"/>
              </a:rPr>
              <a:t>Find the top 3 most recent invoices and their total sales</a:t>
            </a:r>
            <a:endParaRPr lang="en-US" sz="2800" dirty="0">
              <a:solidFill>
                <a:schemeClr val="bg1"/>
              </a:solidFill>
              <a:latin typeface="Canva Sans" panose="020B0604020202020204" charset="0"/>
              <a:sym typeface="Canva Sans"/>
            </a:endParaRPr>
          </a:p>
          <a:p>
            <a:pPr algn="ctr">
              <a:lnSpc>
                <a:spcPts val="4910"/>
              </a:lnSpc>
              <a:spcBef>
                <a:spcPct val="0"/>
              </a:spcBef>
            </a:pPr>
            <a:endParaRPr lang="en-US" sz="3108" dirty="0">
              <a:solidFill>
                <a:srgbClr val="FFFFFF"/>
              </a:solidFill>
              <a:latin typeface="Canva Sans"/>
              <a:ea typeface="Canva Sans"/>
              <a:cs typeface="Canva Sans"/>
              <a:sym typeface="Canva Sans"/>
            </a:endParaRPr>
          </a:p>
        </p:txBody>
      </p:sp>
      <p:pic>
        <p:nvPicPr>
          <p:cNvPr id="13" name="Picture 12">
            <a:extLst>
              <a:ext uri="{FF2B5EF4-FFF2-40B4-BE49-F238E27FC236}">
                <a16:creationId xmlns:a16="http://schemas.microsoft.com/office/drawing/2014/main" id="{EA827BCE-EF28-F796-9811-F96458DD2AA1}"/>
              </a:ext>
            </a:extLst>
          </p:cNvPr>
          <p:cNvPicPr>
            <a:picLocks noChangeAspect="1"/>
          </p:cNvPicPr>
          <p:nvPr/>
        </p:nvPicPr>
        <p:blipFill>
          <a:blip r:embed="rId4"/>
          <a:stretch>
            <a:fillRect/>
          </a:stretch>
        </p:blipFill>
        <p:spPr>
          <a:xfrm>
            <a:off x="10091979" y="1494571"/>
            <a:ext cx="6400799" cy="32607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1" name="Picture 20">
            <a:extLst>
              <a:ext uri="{FF2B5EF4-FFF2-40B4-BE49-F238E27FC236}">
                <a16:creationId xmlns:a16="http://schemas.microsoft.com/office/drawing/2014/main" id="{069FD691-17A5-01AA-BBB7-4657ED596DAC}"/>
              </a:ext>
            </a:extLst>
          </p:cNvPr>
          <p:cNvPicPr>
            <a:picLocks noChangeAspect="1"/>
          </p:cNvPicPr>
          <p:nvPr/>
        </p:nvPicPr>
        <p:blipFill>
          <a:blip r:embed="rId5"/>
          <a:stretch>
            <a:fillRect/>
          </a:stretch>
        </p:blipFill>
        <p:spPr>
          <a:xfrm>
            <a:off x="1447800" y="2013110"/>
            <a:ext cx="8610600" cy="1987390"/>
          </a:xfrm>
          <a:prstGeom prst="rect">
            <a:avLst/>
          </a:prstGeom>
        </p:spPr>
      </p:pic>
      <p:pic>
        <p:nvPicPr>
          <p:cNvPr id="25" name="Picture 24">
            <a:extLst>
              <a:ext uri="{FF2B5EF4-FFF2-40B4-BE49-F238E27FC236}">
                <a16:creationId xmlns:a16="http://schemas.microsoft.com/office/drawing/2014/main" id="{6832DA67-A48C-0EB6-452F-FF8DAE2FCFD8}"/>
              </a:ext>
            </a:extLst>
          </p:cNvPr>
          <p:cNvPicPr>
            <a:picLocks noChangeAspect="1"/>
          </p:cNvPicPr>
          <p:nvPr/>
        </p:nvPicPr>
        <p:blipFill>
          <a:blip r:embed="rId6"/>
          <a:stretch>
            <a:fillRect/>
          </a:stretch>
        </p:blipFill>
        <p:spPr>
          <a:xfrm>
            <a:off x="1295400" y="6207607"/>
            <a:ext cx="8963186" cy="2471607"/>
          </a:xfrm>
          <a:prstGeom prst="rect">
            <a:avLst/>
          </a:prstGeom>
        </p:spPr>
      </p:pic>
      <p:pic>
        <p:nvPicPr>
          <p:cNvPr id="28" name="Picture 27">
            <a:extLst>
              <a:ext uri="{FF2B5EF4-FFF2-40B4-BE49-F238E27FC236}">
                <a16:creationId xmlns:a16="http://schemas.microsoft.com/office/drawing/2014/main" id="{1C60E4F2-681E-30E9-BBC1-B7280854F128}"/>
              </a:ext>
            </a:extLst>
          </p:cNvPr>
          <p:cNvPicPr>
            <a:picLocks noChangeAspect="1"/>
          </p:cNvPicPr>
          <p:nvPr/>
        </p:nvPicPr>
        <p:blipFill>
          <a:blip r:embed="rId7"/>
          <a:stretch>
            <a:fillRect/>
          </a:stretch>
        </p:blipFill>
        <p:spPr>
          <a:xfrm>
            <a:off x="10082938" y="6599968"/>
            <a:ext cx="6376261" cy="28027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33997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13</a:t>
            </a:r>
          </a:p>
        </p:txBody>
      </p:sp>
      <p:sp>
        <p:nvSpPr>
          <p:cNvPr id="15" name="TextBox 15"/>
          <p:cNvSpPr txBox="1"/>
          <p:nvPr/>
        </p:nvSpPr>
        <p:spPr>
          <a:xfrm>
            <a:off x="663447" y="884278"/>
            <a:ext cx="15935920" cy="515910"/>
          </a:xfrm>
          <a:prstGeom prst="rect">
            <a:avLst/>
          </a:prstGeom>
        </p:spPr>
        <p:txBody>
          <a:bodyPr lIns="0" tIns="0" rIns="0" bIns="0" rtlCol="0" anchor="t">
            <a:spAutoFit/>
          </a:bodyPr>
          <a:lstStyle/>
          <a:p>
            <a:pPr algn="just">
              <a:lnSpc>
                <a:spcPts val="4351"/>
              </a:lnSpc>
            </a:pPr>
            <a:r>
              <a:rPr lang="en-US" sz="2800" dirty="0">
                <a:solidFill>
                  <a:schemeClr val="bg1"/>
                </a:solidFill>
                <a:latin typeface="Canva Sans"/>
                <a:ea typeface="Canva Sans"/>
                <a:cs typeface="Canva Sans"/>
                <a:sym typeface="Canva Sans"/>
              </a:rPr>
              <a:t>16</a:t>
            </a:r>
            <a:r>
              <a:rPr lang="en-US" sz="2800" dirty="0">
                <a:solidFill>
                  <a:schemeClr val="bg1"/>
                </a:solidFill>
                <a:latin typeface="Canva Sans" panose="020B0604020202020204" charset="0"/>
                <a:ea typeface="Canva Sans"/>
                <a:cs typeface="Canva Sans"/>
                <a:sym typeface="Canva Sans"/>
              </a:rPr>
              <a:t>. </a:t>
            </a:r>
            <a:r>
              <a:rPr lang="en-US" sz="2800" dirty="0">
                <a:solidFill>
                  <a:schemeClr val="bg1"/>
                </a:solidFill>
                <a:latin typeface="Canva Sans" panose="020B0604020202020204" charset="0"/>
              </a:rPr>
              <a:t>Get the genre with the highest total sales</a:t>
            </a:r>
            <a:endParaRPr lang="en-US" sz="2800" dirty="0">
              <a:solidFill>
                <a:schemeClr val="bg1"/>
              </a:solidFill>
              <a:latin typeface="Canva Sans" panose="020B0604020202020204" charset="0"/>
              <a:ea typeface="Canva Sans"/>
              <a:cs typeface="Canva Sans"/>
              <a:sym typeface="Canva Sans"/>
            </a:endParaRPr>
          </a:p>
        </p:txBody>
      </p:sp>
      <p:sp>
        <p:nvSpPr>
          <p:cNvPr id="22" name="TextBox 15">
            <a:extLst>
              <a:ext uri="{FF2B5EF4-FFF2-40B4-BE49-F238E27FC236}">
                <a16:creationId xmlns:a16="http://schemas.microsoft.com/office/drawing/2014/main" id="{D71C52A4-5A75-C2FE-9058-4FC9E2401E32}"/>
              </a:ext>
            </a:extLst>
          </p:cNvPr>
          <p:cNvSpPr txBox="1"/>
          <p:nvPr/>
        </p:nvSpPr>
        <p:spPr>
          <a:xfrm>
            <a:off x="867160" y="5108405"/>
            <a:ext cx="15935920" cy="1138453"/>
          </a:xfrm>
          <a:prstGeom prst="rect">
            <a:avLst/>
          </a:prstGeom>
        </p:spPr>
        <p:txBody>
          <a:bodyPr lIns="0" tIns="0" rIns="0" bIns="0" rtlCol="0" anchor="t">
            <a:spAutoFit/>
          </a:bodyPr>
          <a:lstStyle/>
          <a:p>
            <a:pPr algn="just">
              <a:lnSpc>
                <a:spcPts val="4351"/>
              </a:lnSpc>
            </a:pPr>
            <a:r>
              <a:rPr lang="en-US" sz="2800" dirty="0">
                <a:solidFill>
                  <a:schemeClr val="bg1"/>
                </a:solidFill>
                <a:latin typeface="Canva Sans" panose="020B0604020202020204" charset="0"/>
              </a:rPr>
              <a:t>17 Retrieve the list of tracks and their composers with no sales</a:t>
            </a:r>
            <a:endParaRPr lang="en-US" sz="2800" dirty="0">
              <a:solidFill>
                <a:schemeClr val="bg1"/>
              </a:solidFill>
              <a:latin typeface="Canva Sans" panose="020B0604020202020204" charset="0"/>
              <a:sym typeface="Canva Sans"/>
            </a:endParaRPr>
          </a:p>
          <a:p>
            <a:pPr algn="ctr">
              <a:lnSpc>
                <a:spcPts val="4910"/>
              </a:lnSpc>
              <a:spcBef>
                <a:spcPct val="0"/>
              </a:spcBef>
            </a:pPr>
            <a:endParaRPr lang="en-US" sz="3108" dirty="0">
              <a:solidFill>
                <a:srgbClr val="FFFFFF"/>
              </a:solidFill>
              <a:latin typeface="Canva Sans"/>
              <a:ea typeface="Canva Sans"/>
              <a:cs typeface="Canva Sans"/>
              <a:sym typeface="Canva Sans"/>
            </a:endParaRPr>
          </a:p>
        </p:txBody>
      </p:sp>
      <p:pic>
        <p:nvPicPr>
          <p:cNvPr id="16" name="Picture 15">
            <a:extLst>
              <a:ext uri="{FF2B5EF4-FFF2-40B4-BE49-F238E27FC236}">
                <a16:creationId xmlns:a16="http://schemas.microsoft.com/office/drawing/2014/main" id="{646F2201-1DE8-D150-2DC9-398127B051D0}"/>
              </a:ext>
            </a:extLst>
          </p:cNvPr>
          <p:cNvPicPr>
            <a:picLocks noChangeAspect="1"/>
          </p:cNvPicPr>
          <p:nvPr/>
        </p:nvPicPr>
        <p:blipFill>
          <a:blip r:embed="rId5"/>
          <a:stretch>
            <a:fillRect/>
          </a:stretch>
        </p:blipFill>
        <p:spPr>
          <a:xfrm>
            <a:off x="1066800" y="1761053"/>
            <a:ext cx="8991600" cy="2468047"/>
          </a:xfrm>
          <a:prstGeom prst="rect">
            <a:avLst/>
          </a:prstGeom>
        </p:spPr>
      </p:pic>
      <p:pic>
        <p:nvPicPr>
          <p:cNvPr id="18" name="Picture 17">
            <a:extLst>
              <a:ext uri="{FF2B5EF4-FFF2-40B4-BE49-F238E27FC236}">
                <a16:creationId xmlns:a16="http://schemas.microsoft.com/office/drawing/2014/main" id="{600C6BB5-62EB-4519-75DF-BB23FEEB4422}"/>
              </a:ext>
            </a:extLst>
          </p:cNvPr>
          <p:cNvPicPr>
            <a:picLocks noChangeAspect="1"/>
          </p:cNvPicPr>
          <p:nvPr/>
        </p:nvPicPr>
        <p:blipFill>
          <a:blip r:embed="rId6"/>
          <a:stretch>
            <a:fillRect/>
          </a:stretch>
        </p:blipFill>
        <p:spPr>
          <a:xfrm>
            <a:off x="1075840" y="6445500"/>
            <a:ext cx="8982559" cy="2426659"/>
          </a:xfrm>
          <a:prstGeom prst="rect">
            <a:avLst/>
          </a:prstGeom>
        </p:spPr>
      </p:pic>
      <p:pic>
        <p:nvPicPr>
          <p:cNvPr id="20" name="Picture 19">
            <a:extLst>
              <a:ext uri="{FF2B5EF4-FFF2-40B4-BE49-F238E27FC236}">
                <a16:creationId xmlns:a16="http://schemas.microsoft.com/office/drawing/2014/main" id="{668143F2-C6CC-F7BC-C2C9-61FBD5765C56}"/>
              </a:ext>
            </a:extLst>
          </p:cNvPr>
          <p:cNvPicPr>
            <a:picLocks noChangeAspect="1"/>
          </p:cNvPicPr>
          <p:nvPr/>
        </p:nvPicPr>
        <p:blipFill>
          <a:blip r:embed="rId7"/>
          <a:stretch>
            <a:fillRect/>
          </a:stretch>
        </p:blipFill>
        <p:spPr>
          <a:xfrm>
            <a:off x="9525000" y="2229730"/>
            <a:ext cx="4495800" cy="15306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Picture 23">
            <a:extLst>
              <a:ext uri="{FF2B5EF4-FFF2-40B4-BE49-F238E27FC236}">
                <a16:creationId xmlns:a16="http://schemas.microsoft.com/office/drawing/2014/main" id="{E40DF323-57D1-958C-DBC7-518DBC59E09A}"/>
              </a:ext>
            </a:extLst>
          </p:cNvPr>
          <p:cNvPicPr>
            <a:picLocks noChangeAspect="1"/>
          </p:cNvPicPr>
          <p:nvPr/>
        </p:nvPicPr>
        <p:blipFill>
          <a:blip r:embed="rId8"/>
          <a:stretch>
            <a:fillRect/>
          </a:stretch>
        </p:blipFill>
        <p:spPr>
          <a:xfrm>
            <a:off x="9677400" y="6445500"/>
            <a:ext cx="4654770" cy="24266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95167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13</a:t>
            </a:r>
          </a:p>
        </p:txBody>
      </p:sp>
      <p:sp>
        <p:nvSpPr>
          <p:cNvPr id="15" name="TextBox 15"/>
          <p:cNvSpPr txBox="1"/>
          <p:nvPr/>
        </p:nvSpPr>
        <p:spPr>
          <a:xfrm>
            <a:off x="663447" y="884278"/>
            <a:ext cx="15935920" cy="502573"/>
          </a:xfrm>
          <a:prstGeom prst="rect">
            <a:avLst/>
          </a:prstGeom>
        </p:spPr>
        <p:txBody>
          <a:bodyPr lIns="0" tIns="0" rIns="0" bIns="0" rtlCol="0" anchor="t">
            <a:spAutoFit/>
          </a:bodyPr>
          <a:lstStyle/>
          <a:p>
            <a:pPr algn="just">
              <a:lnSpc>
                <a:spcPts val="4351"/>
              </a:lnSpc>
            </a:pPr>
            <a:r>
              <a:rPr lang="en-US" sz="2400" dirty="0">
                <a:solidFill>
                  <a:schemeClr val="bg1"/>
                </a:solidFill>
                <a:latin typeface="Canva Sans" panose="020B0604020202020204" charset="0"/>
              </a:rPr>
              <a:t>18 .Find all customers who have purchased tracks from a specific genre</a:t>
            </a:r>
            <a:endParaRPr lang="en-US" sz="2400" dirty="0">
              <a:solidFill>
                <a:schemeClr val="bg1"/>
              </a:solidFill>
              <a:latin typeface="Canva Sans" panose="020B0604020202020204" charset="0"/>
              <a:ea typeface="Canva Sans"/>
              <a:cs typeface="Canva Sans"/>
              <a:sym typeface="Canva Sans"/>
            </a:endParaRPr>
          </a:p>
        </p:txBody>
      </p:sp>
      <p:sp>
        <p:nvSpPr>
          <p:cNvPr id="22" name="TextBox 15">
            <a:extLst>
              <a:ext uri="{FF2B5EF4-FFF2-40B4-BE49-F238E27FC236}">
                <a16:creationId xmlns:a16="http://schemas.microsoft.com/office/drawing/2014/main" id="{D71C52A4-5A75-C2FE-9058-4FC9E2401E32}"/>
              </a:ext>
            </a:extLst>
          </p:cNvPr>
          <p:cNvSpPr txBox="1"/>
          <p:nvPr/>
        </p:nvSpPr>
        <p:spPr>
          <a:xfrm>
            <a:off x="678945" y="5116566"/>
            <a:ext cx="15935920" cy="515910"/>
          </a:xfrm>
          <a:prstGeom prst="rect">
            <a:avLst/>
          </a:prstGeom>
        </p:spPr>
        <p:txBody>
          <a:bodyPr lIns="0" tIns="0" rIns="0" bIns="0" rtlCol="0" anchor="t">
            <a:spAutoFit/>
          </a:bodyPr>
          <a:lstStyle/>
          <a:p>
            <a:pPr algn="just">
              <a:lnSpc>
                <a:spcPts val="4351"/>
              </a:lnSpc>
            </a:pPr>
            <a:r>
              <a:rPr lang="en-US" sz="2800" dirty="0">
                <a:solidFill>
                  <a:schemeClr val="bg1"/>
                </a:solidFill>
                <a:latin typeface="Canva Sans" panose="020B0604020202020204" charset="0"/>
              </a:rPr>
              <a:t>19. </a:t>
            </a:r>
            <a:r>
              <a:rPr lang="en-US" sz="2400" dirty="0">
                <a:solidFill>
                  <a:schemeClr val="bg1"/>
                </a:solidFill>
                <a:latin typeface="Canva Sans" panose="020B0604020202020204" charset="0"/>
              </a:rPr>
              <a:t>Show the total number of tracks and their total sales in each genre</a:t>
            </a:r>
            <a:endParaRPr lang="en-US" sz="2400" dirty="0">
              <a:solidFill>
                <a:schemeClr val="bg1"/>
              </a:solidFill>
              <a:latin typeface="Canva Sans" panose="020B0604020202020204" charset="0"/>
              <a:ea typeface="Canva Sans"/>
              <a:cs typeface="Canva Sans"/>
              <a:sym typeface="Canva Sans"/>
            </a:endParaRPr>
          </a:p>
        </p:txBody>
      </p:sp>
      <p:pic>
        <p:nvPicPr>
          <p:cNvPr id="13" name="Picture 12">
            <a:extLst>
              <a:ext uri="{FF2B5EF4-FFF2-40B4-BE49-F238E27FC236}">
                <a16:creationId xmlns:a16="http://schemas.microsoft.com/office/drawing/2014/main" id="{06439AE7-8DE4-BE9A-6ABA-81402D7A7012}"/>
              </a:ext>
            </a:extLst>
          </p:cNvPr>
          <p:cNvPicPr>
            <a:picLocks noChangeAspect="1"/>
          </p:cNvPicPr>
          <p:nvPr/>
        </p:nvPicPr>
        <p:blipFill>
          <a:blip r:embed="rId5"/>
          <a:stretch>
            <a:fillRect/>
          </a:stretch>
        </p:blipFill>
        <p:spPr>
          <a:xfrm>
            <a:off x="890954" y="1853296"/>
            <a:ext cx="10158046" cy="2680604"/>
          </a:xfrm>
          <a:prstGeom prst="rect">
            <a:avLst/>
          </a:prstGeom>
        </p:spPr>
      </p:pic>
      <p:pic>
        <p:nvPicPr>
          <p:cNvPr id="19" name="Picture 18">
            <a:extLst>
              <a:ext uri="{FF2B5EF4-FFF2-40B4-BE49-F238E27FC236}">
                <a16:creationId xmlns:a16="http://schemas.microsoft.com/office/drawing/2014/main" id="{BF54592F-232D-4B0E-1E00-DED8CCC6C592}"/>
              </a:ext>
            </a:extLst>
          </p:cNvPr>
          <p:cNvPicPr>
            <a:picLocks noChangeAspect="1"/>
          </p:cNvPicPr>
          <p:nvPr/>
        </p:nvPicPr>
        <p:blipFill>
          <a:blip r:embed="rId6"/>
          <a:stretch>
            <a:fillRect/>
          </a:stretch>
        </p:blipFill>
        <p:spPr>
          <a:xfrm>
            <a:off x="10820400" y="1806338"/>
            <a:ext cx="4038600" cy="27745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3" name="Picture 22">
            <a:extLst>
              <a:ext uri="{FF2B5EF4-FFF2-40B4-BE49-F238E27FC236}">
                <a16:creationId xmlns:a16="http://schemas.microsoft.com/office/drawing/2014/main" id="{96D30EB8-5880-EB4D-BA16-0F39110E256E}"/>
              </a:ext>
            </a:extLst>
          </p:cNvPr>
          <p:cNvPicPr>
            <a:picLocks noChangeAspect="1"/>
          </p:cNvPicPr>
          <p:nvPr/>
        </p:nvPicPr>
        <p:blipFill>
          <a:blip r:embed="rId7"/>
          <a:stretch>
            <a:fillRect/>
          </a:stretch>
        </p:blipFill>
        <p:spPr>
          <a:xfrm>
            <a:off x="909778" y="6388620"/>
            <a:ext cx="9910622" cy="2821459"/>
          </a:xfrm>
          <a:prstGeom prst="rect">
            <a:avLst/>
          </a:prstGeom>
        </p:spPr>
      </p:pic>
      <p:pic>
        <p:nvPicPr>
          <p:cNvPr id="28" name="Picture 27">
            <a:extLst>
              <a:ext uri="{FF2B5EF4-FFF2-40B4-BE49-F238E27FC236}">
                <a16:creationId xmlns:a16="http://schemas.microsoft.com/office/drawing/2014/main" id="{F8C2F5CC-27B1-FC36-D9EC-3054BDDBB293}"/>
              </a:ext>
            </a:extLst>
          </p:cNvPr>
          <p:cNvPicPr>
            <a:picLocks noChangeAspect="1"/>
          </p:cNvPicPr>
          <p:nvPr/>
        </p:nvPicPr>
        <p:blipFill>
          <a:blip r:embed="rId8"/>
          <a:stretch>
            <a:fillRect/>
          </a:stretch>
        </p:blipFill>
        <p:spPr>
          <a:xfrm>
            <a:off x="10820400" y="6310257"/>
            <a:ext cx="4038600" cy="30519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49745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0" y="45637"/>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13</a:t>
            </a:r>
          </a:p>
        </p:txBody>
      </p:sp>
      <p:sp>
        <p:nvSpPr>
          <p:cNvPr id="21" name="Rectangle 3">
            <a:extLst>
              <a:ext uri="{FF2B5EF4-FFF2-40B4-BE49-F238E27FC236}">
                <a16:creationId xmlns:a16="http://schemas.microsoft.com/office/drawing/2014/main" id="{B39573C1-5809-71C1-A2C5-6BAFA15B1CB9}"/>
              </a:ext>
            </a:extLst>
          </p:cNvPr>
          <p:cNvSpPr>
            <a:spLocks noChangeArrowheads="1"/>
          </p:cNvSpPr>
          <p:nvPr/>
        </p:nvSpPr>
        <p:spPr bwMode="auto">
          <a:xfrm>
            <a:off x="2362200" y="2449754"/>
            <a:ext cx="13155495"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lumMod val="95000"/>
                  </a:schemeClr>
                </a:solidFill>
                <a:effectLst/>
                <a:latin typeface="Canva Sans" panose="020B0604020202020204" charset="0"/>
              </a:rPr>
              <a:t>Top Customers:</a:t>
            </a:r>
            <a:r>
              <a:rPr kumimoji="0" lang="en-US" altLang="en-US" sz="2400" b="0" i="0" u="none" strike="noStrike" cap="none" normalizeH="0" baseline="0" dirty="0">
                <a:ln>
                  <a:noFill/>
                </a:ln>
                <a:solidFill>
                  <a:schemeClr val="bg1">
                    <a:lumMod val="95000"/>
                  </a:schemeClr>
                </a:solidFill>
                <a:effectLst/>
                <a:latin typeface="Canva Sans" panose="020B0604020202020204" charset="0"/>
              </a:rPr>
              <a:t> Identify high-value customers to target for loyalty programs and personalized offers.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lumMod val="95000"/>
                  </a:schemeClr>
                </a:solidFill>
                <a:effectLst/>
                <a:latin typeface="Canva Sans" panose="020B0604020202020204" charset="0"/>
              </a:rPr>
              <a:t>Customer Retention:</a:t>
            </a:r>
            <a:r>
              <a:rPr kumimoji="0" lang="en-US" altLang="en-US" sz="2400" b="0" i="0" u="none" strike="noStrike" cap="none" normalizeH="0" baseline="0" dirty="0">
                <a:ln>
                  <a:noFill/>
                </a:ln>
                <a:solidFill>
                  <a:schemeClr val="bg1">
                    <a:lumMod val="95000"/>
                  </a:schemeClr>
                </a:solidFill>
                <a:effectLst/>
                <a:latin typeface="Canva Sans" panose="020B0604020202020204" charset="0"/>
              </a:rPr>
              <a:t> Track repeat purchases to assess and improve customer loyalty.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lumMod val="95000"/>
                  </a:schemeClr>
                </a:solidFill>
                <a:effectLst/>
                <a:latin typeface="Canva Sans" panose="020B0604020202020204" charset="0"/>
              </a:rPr>
              <a:t>Popular Music Tracks:</a:t>
            </a:r>
            <a:r>
              <a:rPr kumimoji="0" lang="en-US" altLang="en-US" sz="2400" b="0" i="0" u="none" strike="noStrike" cap="none" normalizeH="0" baseline="0" dirty="0">
                <a:ln>
                  <a:noFill/>
                </a:ln>
                <a:solidFill>
                  <a:schemeClr val="bg1">
                    <a:lumMod val="95000"/>
                  </a:schemeClr>
                </a:solidFill>
                <a:effectLst/>
                <a:latin typeface="Canva Sans" panose="020B0604020202020204" charset="0"/>
              </a:rPr>
              <a:t> Highlight best-selling tracks to boost inventory management and promotions.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lumMod val="95000"/>
                  </a:schemeClr>
                </a:solidFill>
                <a:effectLst/>
                <a:latin typeface="Canva Sans" panose="020B0604020202020204" charset="0"/>
              </a:rPr>
              <a:t>Sales Trends:</a:t>
            </a:r>
            <a:r>
              <a:rPr kumimoji="0" lang="en-US" altLang="en-US" sz="2400" b="0" i="0" u="none" strike="noStrike" cap="none" normalizeH="0" baseline="0" dirty="0">
                <a:ln>
                  <a:noFill/>
                </a:ln>
                <a:solidFill>
                  <a:schemeClr val="bg1">
                    <a:lumMod val="95000"/>
                  </a:schemeClr>
                </a:solidFill>
                <a:effectLst/>
                <a:latin typeface="Canva Sans" panose="020B0604020202020204" charset="0"/>
              </a:rPr>
              <a:t> Analyze sales patterns over time to identify seasonal trends and peak periods.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lumMod val="95000"/>
                  </a:schemeClr>
                </a:solidFill>
                <a:effectLst/>
                <a:latin typeface="Canva Sans" panose="020B0604020202020204" charset="0"/>
              </a:rPr>
              <a:t>Revenue by Genre:</a:t>
            </a:r>
            <a:r>
              <a:rPr kumimoji="0" lang="en-US" altLang="en-US" sz="2400" b="0" i="0" u="none" strike="noStrike" cap="none" normalizeH="0" baseline="0" dirty="0">
                <a:ln>
                  <a:noFill/>
                </a:ln>
                <a:solidFill>
                  <a:schemeClr val="bg1">
                    <a:lumMod val="95000"/>
                  </a:schemeClr>
                </a:solidFill>
                <a:effectLst/>
                <a:latin typeface="Canva Sans" panose="020B0604020202020204" charset="0"/>
              </a:rPr>
              <a:t> Focus on profitable genres to tailor marketing strategies and manage inventory.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lumMod val="95000"/>
                  </a:schemeClr>
                </a:solidFill>
                <a:effectLst/>
                <a:latin typeface="Canva Sans" panose="020B0604020202020204" charset="0"/>
              </a:rPr>
              <a:t>Top Artists:</a:t>
            </a:r>
            <a:r>
              <a:rPr kumimoji="0" lang="en-US" altLang="en-US" sz="2400" b="0" i="0" u="none" strike="noStrike" cap="none" normalizeH="0" baseline="0" dirty="0">
                <a:ln>
                  <a:noFill/>
                </a:ln>
                <a:solidFill>
                  <a:schemeClr val="bg1">
                    <a:lumMod val="95000"/>
                  </a:schemeClr>
                </a:solidFill>
                <a:effectLst/>
                <a:latin typeface="Canva Sans" panose="020B0604020202020204" charset="0"/>
              </a:rPr>
              <a:t> Promote high-revenue artists to enhance visibility and sales.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lumMod val="95000"/>
                  </a:schemeClr>
                </a:solidFill>
                <a:effectLst/>
                <a:latin typeface="Canva Sans" panose="020B0604020202020204" charset="0"/>
              </a:rPr>
              <a:t>Artist Popularity Trends:</a:t>
            </a:r>
            <a:r>
              <a:rPr kumimoji="0" lang="en-US" altLang="en-US" sz="2400" b="0" i="0" u="none" strike="noStrike" cap="none" normalizeH="0" baseline="0" dirty="0">
                <a:ln>
                  <a:noFill/>
                </a:ln>
                <a:solidFill>
                  <a:schemeClr val="bg1">
                    <a:lumMod val="95000"/>
                  </a:schemeClr>
                </a:solidFill>
                <a:effectLst/>
                <a:latin typeface="Canva Sans" panose="020B0604020202020204" charset="0"/>
              </a:rPr>
              <a:t> Adjust marketing and inventory based on artist popularity shifts.</a:t>
            </a:r>
          </a:p>
        </p:txBody>
      </p:sp>
      <p:sp>
        <p:nvSpPr>
          <p:cNvPr id="22" name="TextBox 13">
            <a:extLst>
              <a:ext uri="{FF2B5EF4-FFF2-40B4-BE49-F238E27FC236}">
                <a16:creationId xmlns:a16="http://schemas.microsoft.com/office/drawing/2014/main" id="{6B650ABC-B086-63EC-BE99-824075B79019}"/>
              </a:ext>
            </a:extLst>
          </p:cNvPr>
          <p:cNvSpPr txBox="1"/>
          <p:nvPr/>
        </p:nvSpPr>
        <p:spPr>
          <a:xfrm>
            <a:off x="5529140" y="562246"/>
            <a:ext cx="7229716" cy="1133965"/>
          </a:xfrm>
          <a:prstGeom prst="rect">
            <a:avLst/>
          </a:prstGeom>
        </p:spPr>
        <p:txBody>
          <a:bodyPr wrap="square" lIns="0" tIns="0" rIns="0" bIns="0" rtlCol="0" anchor="t">
            <a:spAutoFit/>
          </a:bodyPr>
          <a:lstStyle/>
          <a:p>
            <a:pPr algn="ctr">
              <a:lnSpc>
                <a:spcPts val="9799"/>
              </a:lnSpc>
              <a:spcBef>
                <a:spcPct val="0"/>
              </a:spcBef>
            </a:pPr>
            <a:r>
              <a:rPr lang="en-US" sz="6999" dirty="0">
                <a:solidFill>
                  <a:srgbClr val="FFFFFF"/>
                </a:solidFill>
                <a:latin typeface="Bebas Neue Cyrillic"/>
                <a:ea typeface="Bebas Neue Cyrillic"/>
                <a:cs typeface="Bebas Neue Cyrillic"/>
                <a:sym typeface="Bebas Neue Cyrillic"/>
              </a:rPr>
              <a:t>Business Findings</a:t>
            </a:r>
          </a:p>
        </p:txBody>
      </p:sp>
    </p:spTree>
    <p:extLst>
      <p:ext uri="{BB962C8B-B14F-4D97-AF65-F5344CB8AC3E}">
        <p14:creationId xmlns:p14="http://schemas.microsoft.com/office/powerpoint/2010/main" val="787717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33519" y="23893"/>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13</a:t>
            </a:r>
          </a:p>
        </p:txBody>
      </p:sp>
      <p:sp>
        <p:nvSpPr>
          <p:cNvPr id="21" name="Rectangle 3">
            <a:extLst>
              <a:ext uri="{FF2B5EF4-FFF2-40B4-BE49-F238E27FC236}">
                <a16:creationId xmlns:a16="http://schemas.microsoft.com/office/drawing/2014/main" id="{B39573C1-5809-71C1-A2C5-6BAFA15B1CB9}"/>
              </a:ext>
            </a:extLst>
          </p:cNvPr>
          <p:cNvSpPr>
            <a:spLocks noChangeArrowheads="1"/>
          </p:cNvSpPr>
          <p:nvPr/>
        </p:nvSpPr>
        <p:spPr bwMode="auto">
          <a:xfrm>
            <a:off x="2133600" y="1355966"/>
            <a:ext cx="13155495"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lumMod val="95000"/>
                  </a:schemeClr>
                </a:solidFill>
                <a:effectLst/>
                <a:latin typeface="Canva Sans" panose="020B0604020202020204" charset="0"/>
              </a:rPr>
              <a:t>Stock Levels:</a:t>
            </a:r>
            <a:r>
              <a:rPr kumimoji="0" lang="en-US" altLang="en-US" sz="2800" b="0" i="0" u="none" strike="noStrike" cap="none" normalizeH="0" baseline="0" dirty="0">
                <a:ln>
                  <a:noFill/>
                </a:ln>
                <a:solidFill>
                  <a:schemeClr val="bg1">
                    <a:lumMod val="95000"/>
                  </a:schemeClr>
                </a:solidFill>
                <a:effectLst/>
                <a:latin typeface="Canva Sans" panose="020B0604020202020204" charset="0"/>
              </a:rPr>
              <a:t> Monitor inventory to prevent stockouts and overstock situations.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lumMod val="95000"/>
                  </a:schemeClr>
                </a:solidFill>
                <a:effectLst/>
                <a:latin typeface="Canva Sans" panose="020B0604020202020204" charset="0"/>
              </a:rPr>
              <a:t>Order Fulfillment Efficiency:</a:t>
            </a:r>
            <a:r>
              <a:rPr kumimoji="0" lang="en-US" altLang="en-US" sz="2800" b="0" i="0" u="none" strike="noStrike" cap="none" normalizeH="0" baseline="0" dirty="0">
                <a:ln>
                  <a:noFill/>
                </a:ln>
                <a:solidFill>
                  <a:schemeClr val="bg1">
                    <a:lumMod val="95000"/>
                  </a:schemeClr>
                </a:solidFill>
                <a:effectLst/>
                <a:latin typeface="Canva Sans" panose="020B0604020202020204" charset="0"/>
              </a:rPr>
              <a:t> Improve fulfillment processes to enhance customer satisfaction.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lumMod val="95000"/>
                  </a:schemeClr>
                </a:solidFill>
                <a:effectLst/>
                <a:latin typeface="Canva Sans" panose="020B0604020202020204" charset="0"/>
              </a:rPr>
              <a:t>Promotion Effectiveness:</a:t>
            </a:r>
            <a:r>
              <a:rPr kumimoji="0" lang="en-US" altLang="en-US" sz="2800" b="0" i="0" u="none" strike="noStrike" cap="none" normalizeH="0" baseline="0" dirty="0">
                <a:ln>
                  <a:noFill/>
                </a:ln>
                <a:solidFill>
                  <a:schemeClr val="bg1">
                    <a:lumMod val="95000"/>
                  </a:schemeClr>
                </a:solidFill>
                <a:effectLst/>
                <a:latin typeface="Canva Sans" panose="020B0604020202020204" charset="0"/>
              </a:rPr>
              <a:t> Evaluate promotional impact to refine future marketing campaigns.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lumMod val="95000"/>
                  </a:schemeClr>
                </a:solidFill>
                <a:effectLst/>
                <a:latin typeface="Canva Sans" panose="020B0604020202020204" charset="0"/>
              </a:rPr>
              <a:t>Customer Demographics:</a:t>
            </a:r>
            <a:r>
              <a:rPr kumimoji="0" lang="en-US" altLang="en-US" sz="2800" b="0" i="0" u="none" strike="noStrike" cap="none" normalizeH="0" baseline="0" dirty="0">
                <a:ln>
                  <a:noFill/>
                </a:ln>
                <a:solidFill>
                  <a:schemeClr val="bg1">
                    <a:lumMod val="95000"/>
                  </a:schemeClr>
                </a:solidFill>
                <a:effectLst/>
                <a:latin typeface="Canva Sans" panose="020B0604020202020204" charset="0"/>
              </a:rPr>
              <a:t> Tailor marketing efforts based on customer demographics for better targeting.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lumMod val="95000"/>
                  </a:schemeClr>
                </a:solidFill>
                <a:effectLst/>
                <a:latin typeface="Canva Sans" panose="020B0604020202020204" charset="0"/>
              </a:rPr>
              <a:t>Overall Revenue Analysis:</a:t>
            </a:r>
            <a:r>
              <a:rPr kumimoji="0" lang="en-US" altLang="en-US" sz="2800" b="0" i="0" u="none" strike="noStrike" cap="none" normalizeH="0" baseline="0" dirty="0">
                <a:ln>
                  <a:noFill/>
                </a:ln>
                <a:solidFill>
                  <a:schemeClr val="bg1">
                    <a:lumMod val="95000"/>
                  </a:schemeClr>
                </a:solidFill>
                <a:effectLst/>
                <a:latin typeface="Canva Sans" panose="020B0604020202020204" charset="0"/>
              </a:rPr>
              <a:t> Assess total revenue to gauge business performance and growth.</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bg1">
                  <a:lumMod val="95000"/>
                </a:schemeClr>
              </a:solidFill>
              <a:effectLst/>
              <a:latin typeface="Canva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lumMod val="95000"/>
                  </a:schemeClr>
                </a:solidFill>
                <a:effectLst/>
                <a:latin typeface="Canva Sans" panose="020B0604020202020204" charset="0"/>
              </a:rPr>
              <a:t>Customer Acquisition Costs:</a:t>
            </a:r>
            <a:r>
              <a:rPr kumimoji="0" lang="en-US" altLang="en-US" sz="2800" b="0" i="0" u="none" strike="noStrike" cap="none" normalizeH="0" baseline="0" dirty="0">
                <a:ln>
                  <a:noFill/>
                </a:ln>
                <a:solidFill>
                  <a:schemeClr val="bg1">
                    <a:lumMod val="95000"/>
                  </a:schemeClr>
                </a:solidFill>
                <a:effectLst/>
                <a:latin typeface="Canva Sans" panose="020B0604020202020204" charset="0"/>
              </a:rPr>
              <a:t> Evaluate acquisition costs against customer lifetime value for marketing efficiency.</a:t>
            </a:r>
          </a:p>
        </p:txBody>
      </p:sp>
    </p:spTree>
    <p:extLst>
      <p:ext uri="{BB962C8B-B14F-4D97-AF65-F5344CB8AC3E}">
        <p14:creationId xmlns:p14="http://schemas.microsoft.com/office/powerpoint/2010/main" val="381347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F2020"/>
        </a:solidFill>
        <a:effectLst/>
      </p:bgPr>
    </p:bg>
    <p:spTree>
      <p:nvGrpSpPr>
        <p:cNvPr id="1" name=""/>
        <p:cNvGrpSpPr/>
        <p:nvPr/>
      </p:nvGrpSpPr>
      <p:grpSpPr>
        <a:xfrm>
          <a:off x="0" y="0"/>
          <a:ext cx="0" cy="0"/>
          <a:chOff x="0" y="0"/>
          <a:chExt cx="0" cy="0"/>
        </a:xfrm>
      </p:grpSpPr>
      <p:grpSp>
        <p:nvGrpSpPr>
          <p:cNvPr id="2" name="Group 2"/>
          <p:cNvGrpSpPr/>
          <p:nvPr/>
        </p:nvGrpSpPr>
        <p:grpSpPr>
          <a:xfrm>
            <a:off x="33519" y="23893"/>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4" name="TextBox 4"/>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259300" y="925830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3519" y="6172200"/>
            <a:ext cx="1593786" cy="4114800"/>
            <a:chOff x="0" y="0"/>
            <a:chExt cx="650851" cy="1680352"/>
          </a:xfrm>
        </p:grpSpPr>
        <p:sp>
          <p:nvSpPr>
            <p:cNvPr id="10" name="Freeform 10"/>
            <p:cNvSpPr/>
            <p:nvPr/>
          </p:nvSpPr>
          <p:spPr>
            <a:xfrm>
              <a:off x="0" y="0"/>
              <a:ext cx="650851" cy="1680352"/>
            </a:xfrm>
            <a:custGeom>
              <a:avLst/>
              <a:gdLst/>
              <a:ahLst/>
              <a:cxnLst/>
              <a:rect l="l" t="t" r="r" b="b"/>
              <a:pathLst>
                <a:path w="650851" h="1680352">
                  <a:moveTo>
                    <a:pt x="0" y="0"/>
                  </a:moveTo>
                  <a:lnTo>
                    <a:pt x="650851" y="0"/>
                  </a:lnTo>
                  <a:lnTo>
                    <a:pt x="650851" y="1680352"/>
                  </a:lnTo>
                  <a:lnTo>
                    <a:pt x="0" y="1680352"/>
                  </a:lnTo>
                  <a:close/>
                </a:path>
              </a:pathLst>
            </a:custGeom>
            <a:gradFill rotWithShape="1">
              <a:gsLst>
                <a:gs pos="0">
                  <a:srgbClr val="00FFAB">
                    <a:alpha val="100000"/>
                  </a:srgbClr>
                </a:gs>
                <a:gs pos="100000">
                  <a:srgbClr val="DBFF00">
                    <a:alpha val="100000"/>
                  </a:srgbClr>
                </a:gs>
              </a:gsLst>
              <a:lin ang="2700000"/>
            </a:gradFill>
          </p:spPr>
        </p:sp>
        <p:sp>
          <p:nvSpPr>
            <p:cNvPr id="11" name="TextBox 11"/>
            <p:cNvSpPr txBox="1"/>
            <p:nvPr/>
          </p:nvSpPr>
          <p:spPr>
            <a:xfrm>
              <a:off x="0" y="-38100"/>
              <a:ext cx="650851" cy="171845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13</a:t>
            </a:r>
          </a:p>
        </p:txBody>
      </p:sp>
      <p:sp>
        <p:nvSpPr>
          <p:cNvPr id="21" name="Rectangle 3">
            <a:extLst>
              <a:ext uri="{FF2B5EF4-FFF2-40B4-BE49-F238E27FC236}">
                <a16:creationId xmlns:a16="http://schemas.microsoft.com/office/drawing/2014/main" id="{B39573C1-5809-71C1-A2C5-6BAFA15B1CB9}"/>
              </a:ext>
            </a:extLst>
          </p:cNvPr>
          <p:cNvSpPr>
            <a:spLocks noChangeArrowheads="1"/>
          </p:cNvSpPr>
          <p:nvPr/>
        </p:nvSpPr>
        <p:spPr bwMode="auto">
          <a:xfrm>
            <a:off x="2133600" y="3848956"/>
            <a:ext cx="1315549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lang="en-US" sz="3600" dirty="0">
                <a:solidFill>
                  <a:schemeClr val="bg1"/>
                </a:solidFill>
              </a:rPr>
              <a:t>By leveraging these insights, a digital music store can make informed decisions regarding marketing strategies, inventory management, customer engagement, and overall business strategy. These insights support optimizing operations, enhancing customer satisfaction, and driving revenue growth.</a:t>
            </a:r>
            <a:endParaRPr kumimoji="0" lang="en-US" altLang="en-US" sz="3600" b="0" i="0" u="none" strike="noStrike" cap="none" normalizeH="0" baseline="0" dirty="0">
              <a:ln>
                <a:noFill/>
              </a:ln>
              <a:solidFill>
                <a:schemeClr val="bg1"/>
              </a:solidFill>
              <a:effectLst/>
              <a:latin typeface="Canva Sans" panose="020B0604020202020204" charset="0"/>
            </a:endParaRPr>
          </a:p>
        </p:txBody>
      </p:sp>
      <p:sp>
        <p:nvSpPr>
          <p:cNvPr id="12" name="TextBox 13">
            <a:extLst>
              <a:ext uri="{FF2B5EF4-FFF2-40B4-BE49-F238E27FC236}">
                <a16:creationId xmlns:a16="http://schemas.microsoft.com/office/drawing/2014/main" id="{C7EB88F9-276C-2428-58D3-3F9A56F0DCAA}"/>
              </a:ext>
            </a:extLst>
          </p:cNvPr>
          <p:cNvSpPr txBox="1"/>
          <p:nvPr/>
        </p:nvSpPr>
        <p:spPr>
          <a:xfrm>
            <a:off x="4953000" y="1848656"/>
            <a:ext cx="7229716" cy="1133965"/>
          </a:xfrm>
          <a:prstGeom prst="rect">
            <a:avLst/>
          </a:prstGeom>
        </p:spPr>
        <p:txBody>
          <a:bodyPr wrap="square" lIns="0" tIns="0" rIns="0" bIns="0" rtlCol="0" anchor="t">
            <a:spAutoFit/>
          </a:bodyPr>
          <a:lstStyle/>
          <a:p>
            <a:pPr algn="ctr">
              <a:lnSpc>
                <a:spcPts val="9799"/>
              </a:lnSpc>
              <a:spcBef>
                <a:spcPct val="0"/>
              </a:spcBef>
            </a:pPr>
            <a:r>
              <a:rPr lang="en-US" sz="6999" dirty="0">
                <a:solidFill>
                  <a:srgbClr val="FFFFFF"/>
                </a:solidFill>
                <a:latin typeface="Bebas Neue Cyrillic"/>
                <a:ea typeface="Bebas Neue Cyrillic"/>
                <a:cs typeface="Bebas Neue Cyrillic"/>
                <a:sym typeface="Bebas Neue Cyrillic"/>
              </a:rPr>
              <a:t>SUMMARY</a:t>
            </a:r>
          </a:p>
        </p:txBody>
      </p:sp>
    </p:spTree>
    <p:extLst>
      <p:ext uri="{BB962C8B-B14F-4D97-AF65-F5344CB8AC3E}">
        <p14:creationId xmlns:p14="http://schemas.microsoft.com/office/powerpoint/2010/main" val="3893845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126132"/>
            <a:ext cx="18288000" cy="1028700"/>
            <a:chOff x="0" y="0"/>
            <a:chExt cx="4816593" cy="270933"/>
          </a:xfrm>
        </p:grpSpPr>
        <p:sp>
          <p:nvSpPr>
            <p:cNvPr id="4" name="Freeform 4"/>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D2D2D"/>
            </a:solidFill>
          </p:spPr>
        </p:sp>
        <p:sp>
          <p:nvSpPr>
            <p:cNvPr id="5" name="TextBox 5"/>
            <p:cNvSpPr txBox="1"/>
            <p:nvPr/>
          </p:nvSpPr>
          <p:spPr>
            <a:xfrm>
              <a:off x="0" y="-38100"/>
              <a:ext cx="4816593" cy="30903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479107" y="350118"/>
            <a:ext cx="368680" cy="290363"/>
          </a:xfrm>
          <a:custGeom>
            <a:avLst/>
            <a:gdLst/>
            <a:ahLst/>
            <a:cxnLst/>
            <a:rect l="l" t="t" r="r" b="b"/>
            <a:pathLst>
              <a:path w="368680" h="290363">
                <a:moveTo>
                  <a:pt x="0" y="0"/>
                </a:moveTo>
                <a:lnTo>
                  <a:pt x="368680" y="0"/>
                </a:lnTo>
                <a:lnTo>
                  <a:pt x="368680" y="290364"/>
                </a:lnTo>
                <a:lnTo>
                  <a:pt x="0" y="2903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7259300" y="9258300"/>
            <a:ext cx="1028700" cy="1028700"/>
            <a:chOff x="0" y="0"/>
            <a:chExt cx="812800" cy="812800"/>
          </a:xfrm>
        </p:grpSpPr>
        <p:sp>
          <p:nvSpPr>
            <p:cNvPr id="8" name="Freeform 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9" name="TextBox 9"/>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7424916" y="9626320"/>
            <a:ext cx="697468" cy="264160"/>
          </a:xfrm>
          <a:prstGeom prst="rect">
            <a:avLst/>
          </a:prstGeom>
        </p:spPr>
        <p:txBody>
          <a:bodyPr lIns="0" tIns="0" rIns="0" bIns="0" rtlCol="0" anchor="t">
            <a:spAutoFit/>
          </a:bodyPr>
          <a:lstStyle/>
          <a:p>
            <a:pPr algn="ctr">
              <a:lnSpc>
                <a:spcPts val="2239"/>
              </a:lnSpc>
              <a:spcBef>
                <a:spcPct val="0"/>
              </a:spcBef>
            </a:pPr>
            <a:r>
              <a:rPr lang="en-US" sz="1599">
                <a:solidFill>
                  <a:srgbClr val="1F2020"/>
                </a:solidFill>
                <a:latin typeface="Open Sans Bold"/>
                <a:ea typeface="Open Sans Bold"/>
                <a:cs typeface="Open Sans Bold"/>
                <a:sym typeface="Open Sans Bold"/>
              </a:rPr>
              <a:t>14</a:t>
            </a:r>
          </a:p>
        </p:txBody>
      </p:sp>
      <p:sp>
        <p:nvSpPr>
          <p:cNvPr id="11" name="TextBox 11"/>
          <p:cNvSpPr txBox="1"/>
          <p:nvPr/>
        </p:nvSpPr>
        <p:spPr>
          <a:xfrm>
            <a:off x="4299434" y="2671404"/>
            <a:ext cx="9689133" cy="3145294"/>
          </a:xfrm>
          <a:prstGeom prst="rect">
            <a:avLst/>
          </a:prstGeom>
        </p:spPr>
        <p:txBody>
          <a:bodyPr lIns="0" tIns="0" rIns="0" bIns="0" rtlCol="0" anchor="t">
            <a:spAutoFit/>
          </a:bodyPr>
          <a:lstStyle/>
          <a:p>
            <a:pPr algn="ctr">
              <a:lnSpc>
                <a:spcPts val="25608"/>
              </a:lnSpc>
              <a:spcBef>
                <a:spcPct val="0"/>
              </a:spcBef>
            </a:pPr>
            <a:r>
              <a:rPr lang="en-US" sz="18291" dirty="0">
                <a:solidFill>
                  <a:srgbClr val="FFFFFF"/>
                </a:solidFill>
                <a:latin typeface="Bebas Neue Cyrillic"/>
                <a:ea typeface="Bebas Neue Cyrillic"/>
                <a:cs typeface="Bebas Neue Cyrillic"/>
                <a:sym typeface="Bebas Neue Cyrillic"/>
              </a:rPr>
              <a:t>Thank You</a:t>
            </a:r>
          </a:p>
        </p:txBody>
      </p:sp>
      <p:grpSp>
        <p:nvGrpSpPr>
          <p:cNvPr id="12" name="Group 12"/>
          <p:cNvGrpSpPr/>
          <p:nvPr/>
        </p:nvGrpSpPr>
        <p:grpSpPr>
          <a:xfrm>
            <a:off x="4720210" y="3094620"/>
            <a:ext cx="519194" cy="519194"/>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FFAB">
                    <a:alpha val="100000"/>
                  </a:srgbClr>
                </a:gs>
                <a:gs pos="100000">
                  <a:srgbClr val="DBFF00">
                    <a:alpha val="100000"/>
                  </a:srgbClr>
                </a:gs>
              </a:gsLst>
              <a:lin ang="2700000"/>
            </a:gradFill>
          </p:spPr>
        </p:sp>
        <p:sp>
          <p:nvSpPr>
            <p:cNvPr id="14" name="TextBox 14"/>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5" name="AutoShape 15"/>
          <p:cNvSpPr/>
          <p:nvPr/>
        </p:nvSpPr>
        <p:spPr>
          <a:xfrm>
            <a:off x="5285374" y="5930998"/>
            <a:ext cx="7717253" cy="0"/>
          </a:xfrm>
          <a:prstGeom prst="line">
            <a:avLst/>
          </a:prstGeom>
          <a:ln w="38100" cap="flat">
            <a:gradFill>
              <a:gsLst>
                <a:gs pos="0">
                  <a:srgbClr val="00FFAB">
                    <a:alpha val="100000"/>
                  </a:srgbClr>
                </a:gs>
                <a:gs pos="100000">
                  <a:srgbClr val="DBFF00">
                    <a:alpha val="100000"/>
                  </a:srgbClr>
                </a:gs>
              </a:gsLst>
              <a:lin ang="2700000"/>
            </a:gra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808</Words>
  <Application>Microsoft Office PowerPoint</Application>
  <PresentationFormat>Custom</PresentationFormat>
  <Paragraphs>80</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Consolas</vt:lpstr>
      <vt:lpstr>Arial</vt:lpstr>
      <vt:lpstr>Open Sans Bold</vt:lpstr>
      <vt:lpstr>Calibri</vt:lpstr>
      <vt:lpstr>Canva Sans</vt:lpstr>
      <vt:lpstr>Bebas Neue Cyrillic</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Black Modern Music Presentation</dc:title>
  <cp:lastModifiedBy>vidya acharya</cp:lastModifiedBy>
  <cp:revision>5</cp:revision>
  <dcterms:created xsi:type="dcterms:W3CDTF">2006-08-16T00:00:00Z</dcterms:created>
  <dcterms:modified xsi:type="dcterms:W3CDTF">2024-08-16T13:36:40Z</dcterms:modified>
  <dc:identifier>DAGNvT-sYEw</dc:identifier>
</cp:coreProperties>
</file>